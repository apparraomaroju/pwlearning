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our operating principle: AI never replaces the tester, it accelerates the craft. We combine the tester's domain context with prompt engineering on GitHub Copilot to produce test plans, test designs, bug reports and triage summaries. Walk through the four cards and emphasise: the tester owns every decision, every artifact is reviewed and refined.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maturity journey left to right. NOW is where we are: prompt-driven test management with Copilot. NEXT: RAG-based regression test-case identification grounded in requirements, defects and history, plus testing AI applications and agents. BEYOND: AI DevOps and AI Governance so quality decisions stay explainable and auditable. Close on the enablers and the message that testers remain the owners of quality at every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9326880" cy="548640"/>
          </a:xfrm>
          <a:prstGeom prst="rect">
            <a:avLst/>
          </a:prstGeom>
          <a:noFill/>
        </p:spPr>
        <p:txBody>
          <a:bodyPr wrap="square" anchor="t" lIns="0" rIns="0" tIns="0" bIns="0">
            <a:spAutoFit/>
          </a:bodyPr>
          <a:lstStyle/>
          <a:p>
            <a:pPr algn="l">
              <a:lnSpc>
                <a:spcPct val="100000"/>
              </a:lnSpc>
              <a:spcAft>
                <a:spcPts val="0"/>
              </a:spcAft>
            </a:pPr>
            <a:r>
              <a:rPr sz="2900" b="1" i="0">
                <a:solidFill>
                  <a:srgbClr val="FFFFFF"/>
                </a:solidFill>
                <a:latin typeface="Calibri"/>
              </a:rPr>
              <a:t>AI-Enabled Quality Engineering</a:t>
            </a:r>
          </a:p>
        </p:txBody>
      </p:sp>
      <p:sp>
        <p:nvSpPr>
          <p:cNvPr id="5" name="TextBox 4"/>
          <p:cNvSpPr txBox="1"/>
          <p:nvPr/>
        </p:nvSpPr>
        <p:spPr>
          <a:xfrm>
            <a:off x="457200" y="621792"/>
            <a:ext cx="9326880" cy="365760"/>
          </a:xfrm>
          <a:prstGeom prst="rect">
            <a:avLst/>
          </a:prstGeom>
          <a:noFill/>
        </p:spPr>
        <p:txBody>
          <a:bodyPr wrap="square" anchor="t" lIns="0" rIns="0" tIns="0" bIns="0">
            <a:spAutoFit/>
          </a:bodyPr>
          <a:lstStyle/>
          <a:p>
            <a:pPr algn="l">
              <a:lnSpc>
                <a:spcPct val="100000"/>
              </a:lnSpc>
              <a:spcAft>
                <a:spcPts val="0"/>
              </a:spcAft>
            </a:pPr>
            <a:r>
              <a:rPr sz="1300" b="0" i="0">
                <a:solidFill>
                  <a:srgbClr val="B4C7E7"/>
                </a:solidFill>
                <a:latin typeface="Calibri"/>
              </a:rPr>
              <a:t>How We Work with AI in Test Management Today — Prompt-Driven, Human-in-the-Loop</a:t>
            </a:r>
          </a:p>
        </p:txBody>
      </p:sp>
      <p:sp>
        <p:nvSpPr>
          <p:cNvPr id="6" name="Rounded Rectangle 5"/>
          <p:cNvSpPr/>
          <p:nvPr/>
        </p:nvSpPr>
        <p:spPr>
          <a:xfrm>
            <a:off x="10195560" y="301752"/>
            <a:ext cx="1554480" cy="457200"/>
          </a:xfrm>
          <a:prstGeom prst="roundRect">
            <a:avLst>
              <a:gd name="adj" fmla="val 50000"/>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latin typeface="Calibri"/>
              </a:rPr>
              <a:t>AI • QE</a:t>
            </a:r>
          </a:p>
        </p:txBody>
      </p:sp>
      <p:sp>
        <p:nvSpPr>
          <p:cNvPr id="7" name="TextBox 6"/>
          <p:cNvSpPr txBox="1"/>
          <p:nvPr/>
        </p:nvSpPr>
        <p:spPr>
          <a:xfrm>
            <a:off x="457200" y="1261872"/>
            <a:ext cx="8686800" cy="365760"/>
          </a:xfrm>
          <a:prstGeom prst="rect">
            <a:avLst/>
          </a:prstGeom>
          <a:noFill/>
        </p:spPr>
        <p:txBody>
          <a:bodyPr wrap="square" anchor="t" lIns="0" rIns="0" tIns="0" bIns="0">
            <a:spAutoFit/>
          </a:bodyPr>
          <a:lstStyle/>
          <a:p>
            <a:pPr algn="l">
              <a:lnSpc>
                <a:spcPct val="100000"/>
              </a:lnSpc>
              <a:spcAft>
                <a:spcPts val="0"/>
              </a:spcAft>
            </a:pPr>
            <a:r>
              <a:rPr sz="1200" b="1" i="0">
                <a:solidFill>
                  <a:srgbClr val="2E74B5"/>
                </a:solidFill>
                <a:latin typeface="Calibri"/>
              </a:rPr>
              <a:t>HOW WE WORK TODAY</a:t>
            </a:r>
          </a:p>
        </p:txBody>
      </p:sp>
      <p:sp>
        <p:nvSpPr>
          <p:cNvPr id="8" name="TextBox 7"/>
          <p:cNvSpPr txBox="1"/>
          <p:nvPr/>
        </p:nvSpPr>
        <p:spPr>
          <a:xfrm>
            <a:off x="8229600" y="1243584"/>
            <a:ext cx="3474720" cy="365760"/>
          </a:xfrm>
          <a:prstGeom prst="rect">
            <a:avLst/>
          </a:prstGeom>
          <a:noFill/>
        </p:spPr>
        <p:txBody>
          <a:bodyPr wrap="square" anchor="t" lIns="0" rIns="0" tIns="0" bIns="0">
            <a:spAutoFit/>
          </a:bodyPr>
          <a:lstStyle/>
          <a:p>
            <a:pPr algn="r">
              <a:lnSpc>
                <a:spcPct val="100000"/>
              </a:lnSpc>
              <a:spcAft>
                <a:spcPts val="0"/>
              </a:spcAft>
            </a:pPr>
            <a:r>
              <a:rPr sz="1100" b="0" i="1">
                <a:solidFill>
                  <a:srgbClr val="404040"/>
                </a:solidFill>
                <a:latin typeface="Calibri"/>
              </a:rPr>
              <a:t>Context Engineering + GitHub Copilot in the loop</a:t>
            </a:r>
          </a:p>
        </p:txBody>
      </p:sp>
      <p:sp>
        <p:nvSpPr>
          <p:cNvPr id="9" name="Rounded Rectangle 8"/>
          <p:cNvSpPr/>
          <p:nvPr/>
        </p:nvSpPr>
        <p:spPr>
          <a:xfrm>
            <a:off x="822960" y="1783080"/>
            <a:ext cx="2331720" cy="658368"/>
          </a:xfrm>
          <a:prstGeom prst="roundRect">
            <a:avLst>
              <a:gd name="adj" fmla="val 12000"/>
            </a:avLst>
          </a:prstGeom>
          <a:solidFill>
            <a:srgbClr val="EDF4FB"/>
          </a:solidFill>
          <a:ln w="15240">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0000"/>
              </a:lnSpc>
              <a:spcAft>
                <a:spcPts val="100"/>
              </a:spcAft>
            </a:pPr>
            <a:r>
              <a:rPr sz="1250" b="1" i="0">
                <a:solidFill>
                  <a:srgbClr val="1F3864"/>
                </a:solidFill>
                <a:latin typeface="Calibri"/>
              </a:rPr>
              <a:t>Manual Testers</a:t>
            </a:r>
          </a:p>
          <a:p>
            <a:pPr algn="ctr">
              <a:lnSpc>
                <a:spcPct val="100000"/>
              </a:lnSpc>
              <a:spcAft>
                <a:spcPts val="0"/>
              </a:spcAft>
            </a:pPr>
            <a:r>
              <a:rPr sz="900" b="0" i="0">
                <a:solidFill>
                  <a:srgbClr val="404040"/>
                </a:solidFill>
                <a:latin typeface="Calibri"/>
              </a:rPr>
              <a:t>Domain expertise &amp; test intent</a:t>
            </a:r>
          </a:p>
        </p:txBody>
      </p:sp>
      <p:sp>
        <p:nvSpPr>
          <p:cNvPr id="10" name="Right Arrow 9"/>
          <p:cNvSpPr/>
          <p:nvPr/>
        </p:nvSpPr>
        <p:spPr>
          <a:xfrm>
            <a:off x="3227832" y="1975104"/>
            <a:ext cx="256032" cy="274320"/>
          </a:xfrm>
          <a:prstGeom prst="rightArrow">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02152" y="1783080"/>
            <a:ext cx="2331720" cy="658368"/>
          </a:xfrm>
          <a:prstGeom prst="roundRect">
            <a:avLst>
              <a:gd name="adj" fmla="val 12000"/>
            </a:avLst>
          </a:prstGeom>
          <a:solidFill>
            <a:srgbClr val="EDF4FB"/>
          </a:solidFill>
          <a:ln w="15240">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0000"/>
              </a:lnSpc>
              <a:spcAft>
                <a:spcPts val="100"/>
              </a:spcAft>
            </a:pPr>
            <a:r>
              <a:rPr sz="1250" b="1" i="0">
                <a:solidFill>
                  <a:srgbClr val="1F3864"/>
                </a:solidFill>
                <a:latin typeface="Calibri"/>
              </a:rPr>
              <a:t>Context Engineering</a:t>
            </a:r>
          </a:p>
          <a:p>
            <a:pPr algn="ctr">
              <a:lnSpc>
                <a:spcPct val="100000"/>
              </a:lnSpc>
              <a:spcAft>
                <a:spcPts val="0"/>
              </a:spcAft>
            </a:pPr>
            <a:r>
              <a:rPr sz="900" b="0" i="0">
                <a:solidFill>
                  <a:srgbClr val="404040"/>
                </a:solidFill>
                <a:latin typeface="Calibri"/>
              </a:rPr>
              <a:t>Purpose-built prompts</a:t>
            </a:r>
          </a:p>
        </p:txBody>
      </p:sp>
      <p:sp>
        <p:nvSpPr>
          <p:cNvPr id="12" name="Right Arrow 11"/>
          <p:cNvSpPr/>
          <p:nvPr/>
        </p:nvSpPr>
        <p:spPr>
          <a:xfrm>
            <a:off x="5907024" y="1975104"/>
            <a:ext cx="256032" cy="274320"/>
          </a:xfrm>
          <a:prstGeom prst="rightArrow">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81344" y="1783080"/>
            <a:ext cx="2331720" cy="658368"/>
          </a:xfrm>
          <a:prstGeom prst="roundRect">
            <a:avLst>
              <a:gd name="adj" fmla="val 12000"/>
            </a:avLst>
          </a:prstGeom>
          <a:solidFill>
            <a:srgbClr val="EDF4FB"/>
          </a:solidFill>
          <a:ln w="15240">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0000"/>
              </a:lnSpc>
              <a:spcAft>
                <a:spcPts val="100"/>
              </a:spcAft>
            </a:pPr>
            <a:r>
              <a:rPr sz="1250" b="1" i="0">
                <a:solidFill>
                  <a:srgbClr val="1F3864"/>
                </a:solidFill>
                <a:latin typeface="Calibri"/>
              </a:rPr>
              <a:t>GitHub Copilot</a:t>
            </a:r>
          </a:p>
          <a:p>
            <a:pPr algn="ctr">
              <a:lnSpc>
                <a:spcPct val="100000"/>
              </a:lnSpc>
              <a:spcAft>
                <a:spcPts val="0"/>
              </a:spcAft>
            </a:pPr>
            <a:r>
              <a:rPr sz="900" b="0" i="0">
                <a:solidFill>
                  <a:srgbClr val="404040"/>
                </a:solidFill>
                <a:latin typeface="Calibri"/>
              </a:rPr>
              <a:t>AI drafting &amp; analysis</a:t>
            </a:r>
          </a:p>
        </p:txBody>
      </p:sp>
      <p:sp>
        <p:nvSpPr>
          <p:cNvPr id="14" name="Right Arrow 13"/>
          <p:cNvSpPr/>
          <p:nvPr/>
        </p:nvSpPr>
        <p:spPr>
          <a:xfrm>
            <a:off x="8586216" y="1975104"/>
            <a:ext cx="256032" cy="274320"/>
          </a:xfrm>
          <a:prstGeom prst="rightArrow">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860536" y="1783080"/>
            <a:ext cx="2331720" cy="658368"/>
          </a:xfrm>
          <a:prstGeom prst="roundRect">
            <a:avLst>
              <a:gd name="adj" fmla="val 12000"/>
            </a:avLst>
          </a:prstGeom>
          <a:solidFill>
            <a:srgbClr val="EDF4FB"/>
          </a:solidFill>
          <a:ln w="15240">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0000"/>
              </a:lnSpc>
              <a:spcAft>
                <a:spcPts val="100"/>
              </a:spcAft>
            </a:pPr>
            <a:r>
              <a:rPr sz="1250" b="1" i="0">
                <a:solidFill>
                  <a:srgbClr val="1F3864"/>
                </a:solidFill>
                <a:latin typeface="Calibri"/>
              </a:rPr>
              <a:t>Test Artifacts</a:t>
            </a:r>
          </a:p>
          <a:p>
            <a:pPr algn="ctr">
              <a:lnSpc>
                <a:spcPct val="100000"/>
              </a:lnSpc>
              <a:spcAft>
                <a:spcPts val="0"/>
              </a:spcAft>
            </a:pPr>
            <a:r>
              <a:rPr sz="900" b="0" i="0">
                <a:solidFill>
                  <a:srgbClr val="404040"/>
                </a:solidFill>
                <a:latin typeface="Calibri"/>
              </a:rPr>
              <a:t>Plan • Cases • Bugs</a:t>
            </a:r>
          </a:p>
        </p:txBody>
      </p:sp>
      <p:sp>
        <p:nvSpPr>
          <p:cNvPr id="16" name="Rounded Rectangle 15"/>
          <p:cNvSpPr/>
          <p:nvPr/>
        </p:nvSpPr>
        <p:spPr>
          <a:xfrm>
            <a:off x="457200" y="2697480"/>
            <a:ext cx="5486400" cy="150876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2926080"/>
            <a:ext cx="457200" cy="457200"/>
          </a:xfrm>
          <a:prstGeom prst="ellipse">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01</a:t>
            </a:r>
          </a:p>
        </p:txBody>
      </p:sp>
      <p:sp>
        <p:nvSpPr>
          <p:cNvPr id="18" name="TextBox 17"/>
          <p:cNvSpPr txBox="1"/>
          <p:nvPr/>
        </p:nvSpPr>
        <p:spPr>
          <a:xfrm>
            <a:off x="1325880" y="2898648"/>
            <a:ext cx="4434840" cy="1234440"/>
          </a:xfrm>
          <a:prstGeom prst="rect">
            <a:avLst/>
          </a:prstGeom>
          <a:noFill/>
        </p:spPr>
        <p:txBody>
          <a:bodyPr wrap="square" anchor="t" lIns="0" rIns="0" tIns="0" bIns="0">
            <a:spAutoFit/>
          </a:bodyPr>
          <a:lstStyle/>
          <a:p>
            <a:pPr algn="l">
              <a:lnSpc>
                <a:spcPct val="100000"/>
              </a:lnSpc>
              <a:spcAft>
                <a:spcPts val="300"/>
              </a:spcAft>
            </a:pPr>
            <a:r>
              <a:rPr sz="1600" b="1" i="0">
                <a:solidFill>
                  <a:srgbClr val="1F3864"/>
                </a:solidFill>
                <a:latin typeface="Calibri"/>
              </a:rPr>
              <a:t>Test Plan Creation</a:t>
            </a:r>
          </a:p>
          <a:p>
            <a:pPr algn="l">
              <a:lnSpc>
                <a:spcPct val="105000"/>
              </a:lnSpc>
              <a:spcAft>
                <a:spcPts val="300"/>
              </a:spcAft>
            </a:pPr>
            <a:r>
              <a:rPr sz="1150" b="0" i="0">
                <a:solidFill>
                  <a:srgbClr val="404040"/>
                </a:solidFill>
                <a:latin typeface="Calibri"/>
              </a:rPr>
              <a:t>Structured prompts build scope, strategy, risk and entry/exit criteria — testers validate and enrich.</a:t>
            </a:r>
          </a:p>
          <a:p>
            <a:pPr algn="l">
              <a:lnSpc>
                <a:spcPct val="100000"/>
              </a:lnSpc>
              <a:spcAft>
                <a:spcPts val="0"/>
              </a:spcAft>
            </a:pPr>
            <a:r>
              <a:rPr sz="1000" b="0" i="1">
                <a:solidFill>
                  <a:srgbClr val="2E74B5"/>
                </a:solidFill>
                <a:latin typeface="Calibri"/>
              </a:rPr>
              <a:t>“Draft a test plan for the payment module – scope, risks, entry/exit criteria.”</a:t>
            </a:r>
          </a:p>
        </p:txBody>
      </p:sp>
      <p:sp>
        <p:nvSpPr>
          <p:cNvPr id="19" name="Rounded Rectangle 18"/>
          <p:cNvSpPr/>
          <p:nvPr/>
        </p:nvSpPr>
        <p:spPr>
          <a:xfrm>
            <a:off x="6245352" y="2697480"/>
            <a:ext cx="5486400" cy="150876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73952" y="2926080"/>
            <a:ext cx="457200" cy="457200"/>
          </a:xfrm>
          <a:prstGeom prst="ellipse">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02</a:t>
            </a:r>
          </a:p>
        </p:txBody>
      </p:sp>
      <p:sp>
        <p:nvSpPr>
          <p:cNvPr id="21" name="TextBox 20"/>
          <p:cNvSpPr txBox="1"/>
          <p:nvPr/>
        </p:nvSpPr>
        <p:spPr>
          <a:xfrm>
            <a:off x="7114032" y="2898648"/>
            <a:ext cx="4434840" cy="1234440"/>
          </a:xfrm>
          <a:prstGeom prst="rect">
            <a:avLst/>
          </a:prstGeom>
          <a:noFill/>
        </p:spPr>
        <p:txBody>
          <a:bodyPr wrap="square" anchor="t" lIns="0" rIns="0" tIns="0" bIns="0">
            <a:spAutoFit/>
          </a:bodyPr>
          <a:lstStyle/>
          <a:p>
            <a:pPr algn="l">
              <a:lnSpc>
                <a:spcPct val="100000"/>
              </a:lnSpc>
              <a:spcAft>
                <a:spcPts val="300"/>
              </a:spcAft>
            </a:pPr>
            <a:r>
              <a:rPr sz="1600" b="1" i="0">
                <a:solidFill>
                  <a:srgbClr val="1F3864"/>
                </a:solidFill>
                <a:latin typeface="Calibri"/>
              </a:rPr>
              <a:t>Test Design</a:t>
            </a:r>
          </a:p>
          <a:p>
            <a:pPr algn="l">
              <a:lnSpc>
                <a:spcPct val="105000"/>
              </a:lnSpc>
              <a:spcAft>
                <a:spcPts val="300"/>
              </a:spcAft>
            </a:pPr>
            <a:r>
              <a:rPr sz="1150" b="0" i="0">
                <a:solidFill>
                  <a:srgbClr val="404040"/>
                </a:solidFill>
                <a:latin typeface="Calibri"/>
              </a:rPr>
              <a:t>Copilot drafts test cases, scenarios and test data straight from requirements and acceptance criteria.</a:t>
            </a:r>
          </a:p>
          <a:p>
            <a:pPr algn="l">
              <a:lnSpc>
                <a:spcPct val="100000"/>
              </a:lnSpc>
              <a:spcAft>
                <a:spcPts val="0"/>
              </a:spcAft>
            </a:pPr>
            <a:r>
              <a:rPr sz="1000" b="0" i="1">
                <a:solidFill>
                  <a:srgbClr val="2E74B5"/>
                </a:solidFill>
                <a:latin typeface="Calibri"/>
              </a:rPr>
              <a:t>“Generate positive, negative and boundary test cases for this story.”</a:t>
            </a:r>
          </a:p>
        </p:txBody>
      </p:sp>
      <p:sp>
        <p:nvSpPr>
          <p:cNvPr id="22" name="Rounded Rectangle 21"/>
          <p:cNvSpPr/>
          <p:nvPr/>
        </p:nvSpPr>
        <p:spPr>
          <a:xfrm>
            <a:off x="457200" y="4389120"/>
            <a:ext cx="5486400" cy="150876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85800" y="4617720"/>
            <a:ext cx="457200" cy="457200"/>
          </a:xfrm>
          <a:prstGeom prst="ellipse">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03</a:t>
            </a:r>
          </a:p>
        </p:txBody>
      </p:sp>
      <p:sp>
        <p:nvSpPr>
          <p:cNvPr id="24" name="TextBox 23"/>
          <p:cNvSpPr txBox="1"/>
          <p:nvPr/>
        </p:nvSpPr>
        <p:spPr>
          <a:xfrm>
            <a:off x="1325880" y="4590288"/>
            <a:ext cx="4434840" cy="1234440"/>
          </a:xfrm>
          <a:prstGeom prst="rect">
            <a:avLst/>
          </a:prstGeom>
          <a:noFill/>
        </p:spPr>
        <p:txBody>
          <a:bodyPr wrap="square" anchor="t" lIns="0" rIns="0" tIns="0" bIns="0">
            <a:spAutoFit/>
          </a:bodyPr>
          <a:lstStyle/>
          <a:p>
            <a:pPr algn="l">
              <a:lnSpc>
                <a:spcPct val="100000"/>
              </a:lnSpc>
              <a:spcAft>
                <a:spcPts val="300"/>
              </a:spcAft>
            </a:pPr>
            <a:r>
              <a:rPr sz="1600" b="1" i="0">
                <a:solidFill>
                  <a:srgbClr val="1F3864"/>
                </a:solidFill>
                <a:latin typeface="Calibri"/>
              </a:rPr>
              <a:t>Bug Creation</a:t>
            </a:r>
          </a:p>
          <a:p>
            <a:pPr algn="l">
              <a:lnSpc>
                <a:spcPct val="105000"/>
              </a:lnSpc>
              <a:spcAft>
                <a:spcPts val="300"/>
              </a:spcAft>
            </a:pPr>
            <a:r>
              <a:rPr sz="1150" b="0" i="0">
                <a:solidFill>
                  <a:srgbClr val="404040"/>
                </a:solidFill>
                <a:latin typeface="Calibri"/>
              </a:rPr>
              <a:t>Consistent, evidence-backed bug reports with repro steps, severity and impact — in seconds.</a:t>
            </a:r>
          </a:p>
          <a:p>
            <a:pPr algn="l">
              <a:lnSpc>
                <a:spcPct val="100000"/>
              </a:lnSpc>
              <a:spcAft>
                <a:spcPts val="0"/>
              </a:spcAft>
            </a:pPr>
            <a:r>
              <a:rPr sz="1000" b="0" i="1">
                <a:solidFill>
                  <a:srgbClr val="2E74B5"/>
                </a:solidFill>
                <a:latin typeface="Calibri"/>
              </a:rPr>
              <a:t>“Turn this failure log into a structured bug report.”</a:t>
            </a:r>
          </a:p>
        </p:txBody>
      </p:sp>
      <p:sp>
        <p:nvSpPr>
          <p:cNvPr id="25" name="Rounded Rectangle 24"/>
          <p:cNvSpPr/>
          <p:nvPr/>
        </p:nvSpPr>
        <p:spPr>
          <a:xfrm>
            <a:off x="6245352" y="4389120"/>
            <a:ext cx="5486400" cy="150876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73952" y="4617720"/>
            <a:ext cx="457200" cy="457200"/>
          </a:xfrm>
          <a:prstGeom prst="ellipse">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04</a:t>
            </a:r>
          </a:p>
        </p:txBody>
      </p:sp>
      <p:sp>
        <p:nvSpPr>
          <p:cNvPr id="27" name="TextBox 26"/>
          <p:cNvSpPr txBox="1"/>
          <p:nvPr/>
        </p:nvSpPr>
        <p:spPr>
          <a:xfrm>
            <a:off x="7114032" y="4590288"/>
            <a:ext cx="4434840" cy="1234440"/>
          </a:xfrm>
          <a:prstGeom prst="rect">
            <a:avLst/>
          </a:prstGeom>
          <a:noFill/>
        </p:spPr>
        <p:txBody>
          <a:bodyPr wrap="square" anchor="t" lIns="0" rIns="0" tIns="0" bIns="0">
            <a:spAutoFit/>
          </a:bodyPr>
          <a:lstStyle/>
          <a:p>
            <a:pPr algn="l">
              <a:lnSpc>
                <a:spcPct val="100000"/>
              </a:lnSpc>
              <a:spcAft>
                <a:spcPts val="300"/>
              </a:spcAft>
            </a:pPr>
            <a:r>
              <a:rPr sz="1600" b="1" i="0">
                <a:solidFill>
                  <a:srgbClr val="1F3864"/>
                </a:solidFill>
                <a:latin typeface="Calibri"/>
              </a:rPr>
              <a:t>Bug Triage</a:t>
            </a:r>
          </a:p>
          <a:p>
            <a:pPr algn="l">
              <a:lnSpc>
                <a:spcPct val="105000"/>
              </a:lnSpc>
              <a:spcAft>
                <a:spcPts val="300"/>
              </a:spcAft>
            </a:pPr>
            <a:r>
              <a:rPr sz="1150" b="0" i="0">
                <a:solidFill>
                  <a:srgbClr val="404040"/>
                </a:solidFill>
                <a:latin typeface="Calibri"/>
              </a:rPr>
              <a:t>AI summaries, categorization and duplicate detection make triage faster and decisions sharper.</a:t>
            </a:r>
          </a:p>
          <a:p>
            <a:pPr algn="l">
              <a:lnSpc>
                <a:spcPct val="100000"/>
              </a:lnSpc>
              <a:spcAft>
                <a:spcPts val="0"/>
              </a:spcAft>
            </a:pPr>
            <a:r>
              <a:rPr sz="1000" b="0" i="1">
                <a:solidFill>
                  <a:srgbClr val="2E74B5"/>
                </a:solidFill>
                <a:latin typeface="Calibri"/>
              </a:rPr>
              <a:t>“Summarize and group today’s new defects by module and severity.”</a:t>
            </a:r>
          </a:p>
        </p:txBody>
      </p:sp>
      <p:sp>
        <p:nvSpPr>
          <p:cNvPr id="28" name="Rounded Rectangle 27"/>
          <p:cNvSpPr/>
          <p:nvPr/>
        </p:nvSpPr>
        <p:spPr>
          <a:xfrm>
            <a:off x="457200" y="6053328"/>
            <a:ext cx="11274552" cy="457200"/>
          </a:xfrm>
          <a:prstGeom prst="roundRect">
            <a:avLst>
              <a:gd name="adj" fmla="val 5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Aft>
                <a:spcPts val="0"/>
              </a:spcAft>
            </a:pPr>
            <a:r>
              <a:rPr sz="1300" b="1" i="0">
                <a:solidFill>
                  <a:srgbClr val="1F3864"/>
                </a:solidFill>
                <a:latin typeface="Calibri"/>
              </a:rPr>
              <a:t>Human-in-the-Loop  —  AI drafts and accelerates; testers review, decide, and own quality.</a:t>
            </a:r>
          </a:p>
        </p:txBody>
      </p:sp>
      <p:sp>
        <p:nvSpPr>
          <p:cNvPr id="29" name="TextBox 28"/>
          <p:cNvSpPr txBox="1"/>
          <p:nvPr/>
        </p:nvSpPr>
        <p:spPr>
          <a:xfrm>
            <a:off x="457200" y="6565392"/>
            <a:ext cx="7315200" cy="228600"/>
          </a:xfrm>
          <a:prstGeom prst="rect">
            <a:avLst/>
          </a:prstGeom>
          <a:noFill/>
        </p:spPr>
        <p:txBody>
          <a:bodyPr wrap="square" anchor="t" lIns="0" rIns="0" tIns="0" bIns="0">
            <a:spAutoFit/>
          </a:bodyPr>
          <a:lstStyle/>
          <a:p>
            <a:pPr algn="l">
              <a:lnSpc>
                <a:spcPct val="100000"/>
              </a:lnSpc>
              <a:spcAft>
                <a:spcPts val="0"/>
              </a:spcAft>
            </a:pPr>
            <a:r>
              <a:rPr sz="900" b="0" i="0">
                <a:solidFill>
                  <a:srgbClr val="D9D9D9"/>
                </a:solidFill>
                <a:latin typeface="Calibri"/>
              </a:rPr>
              <a:t>QE Townhall  •  AI-Enabled Quality Engineering</a:t>
            </a:r>
          </a:p>
        </p:txBody>
      </p:sp>
      <p:sp>
        <p:nvSpPr>
          <p:cNvPr id="30" name="TextBox 29"/>
          <p:cNvSpPr txBox="1"/>
          <p:nvPr/>
        </p:nvSpPr>
        <p:spPr>
          <a:xfrm>
            <a:off x="11338560" y="6565392"/>
            <a:ext cx="411480" cy="228600"/>
          </a:xfrm>
          <a:prstGeom prst="rect">
            <a:avLst/>
          </a:prstGeom>
          <a:noFill/>
        </p:spPr>
        <p:txBody>
          <a:bodyPr wrap="square" anchor="t" lIns="0" rIns="0" tIns="0" bIns="0">
            <a:spAutoFit/>
          </a:bodyPr>
          <a:lstStyle/>
          <a:p>
            <a:pPr algn="r">
              <a:lnSpc>
                <a:spcPct val="100000"/>
              </a:lnSpc>
              <a:spcAft>
                <a:spcPts val="0"/>
              </a:spcAft>
            </a:pPr>
            <a:r>
              <a:rPr sz="1000" b="1" i="0">
                <a:solidFill>
                  <a:srgbClr val="D9D9D9"/>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9326880" cy="548640"/>
          </a:xfrm>
          <a:prstGeom prst="rect">
            <a:avLst/>
          </a:prstGeom>
          <a:noFill/>
        </p:spPr>
        <p:txBody>
          <a:bodyPr wrap="square" anchor="t" lIns="0" rIns="0" tIns="0" bIns="0">
            <a:spAutoFit/>
          </a:bodyPr>
          <a:lstStyle/>
          <a:p>
            <a:pPr algn="l">
              <a:lnSpc>
                <a:spcPct val="100000"/>
              </a:lnSpc>
              <a:spcAft>
                <a:spcPts val="0"/>
              </a:spcAft>
            </a:pPr>
            <a:r>
              <a:rPr sz="2900" b="1" i="0">
                <a:solidFill>
                  <a:srgbClr val="FFFFFF"/>
                </a:solidFill>
                <a:latin typeface="Calibri"/>
              </a:rPr>
              <a:t>Our Roadmap to Intelligent, Governed QE</a:t>
            </a:r>
          </a:p>
        </p:txBody>
      </p:sp>
      <p:sp>
        <p:nvSpPr>
          <p:cNvPr id="5" name="TextBox 4"/>
          <p:cNvSpPr txBox="1"/>
          <p:nvPr/>
        </p:nvSpPr>
        <p:spPr>
          <a:xfrm>
            <a:off x="457200" y="621792"/>
            <a:ext cx="9326880" cy="365760"/>
          </a:xfrm>
          <a:prstGeom prst="rect">
            <a:avLst/>
          </a:prstGeom>
          <a:noFill/>
        </p:spPr>
        <p:txBody>
          <a:bodyPr wrap="square" anchor="t" lIns="0" rIns="0" tIns="0" bIns="0">
            <a:spAutoFit/>
          </a:bodyPr>
          <a:lstStyle/>
          <a:p>
            <a:pPr algn="l">
              <a:lnSpc>
                <a:spcPct val="100000"/>
              </a:lnSpc>
              <a:spcAft>
                <a:spcPts val="0"/>
              </a:spcAft>
            </a:pPr>
            <a:r>
              <a:rPr sz="1300" b="0" i="0">
                <a:solidFill>
                  <a:srgbClr val="B4C7E7"/>
                </a:solidFill>
                <a:latin typeface="Calibri"/>
              </a:rPr>
              <a:t>Planned Evolution — From Copilot-Assisted Test Management to AI-Native Quality Engineering</a:t>
            </a:r>
          </a:p>
        </p:txBody>
      </p:sp>
      <p:sp>
        <p:nvSpPr>
          <p:cNvPr id="6" name="Rounded Rectangle 5"/>
          <p:cNvSpPr/>
          <p:nvPr/>
        </p:nvSpPr>
        <p:spPr>
          <a:xfrm>
            <a:off x="10195560" y="301752"/>
            <a:ext cx="1554480" cy="457200"/>
          </a:xfrm>
          <a:prstGeom prst="roundRect">
            <a:avLst>
              <a:gd name="adj" fmla="val 50000"/>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latin typeface="Calibri"/>
              </a:rPr>
              <a:t>AI • QE</a:t>
            </a:r>
          </a:p>
        </p:txBody>
      </p:sp>
      <p:sp>
        <p:nvSpPr>
          <p:cNvPr id="7" name="Rounded Rectangle 6"/>
          <p:cNvSpPr/>
          <p:nvPr/>
        </p:nvSpPr>
        <p:spPr>
          <a:xfrm>
            <a:off x="457200" y="1463040"/>
            <a:ext cx="3566160" cy="3200400"/>
          </a:xfrm>
          <a:prstGeom prst="roundRect">
            <a:avLst>
              <a:gd name="adj" fmla="val 45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85216" y="1591056"/>
            <a:ext cx="3310128" cy="621792"/>
          </a:xfrm>
          <a:prstGeom prst="roundRect">
            <a:avLst>
              <a:gd name="adj" fmla="val 14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0000"/>
              </a:lnSpc>
              <a:spcAft>
                <a:spcPts val="100"/>
              </a:spcAft>
            </a:pPr>
            <a:r>
              <a:rPr sz="1000" b="1" i="0">
                <a:solidFill>
                  <a:srgbClr val="FFFFFF"/>
                </a:solidFill>
                <a:latin typeface="Calibri"/>
              </a:rPr>
              <a:t>PHASE 1 — NOW</a:t>
            </a:r>
          </a:p>
          <a:p>
            <a:pPr algn="l">
              <a:lnSpc>
                <a:spcPct val="100000"/>
              </a:lnSpc>
              <a:spcAft>
                <a:spcPts val="0"/>
              </a:spcAft>
            </a:pPr>
            <a:r>
              <a:rPr sz="1450" b="1" i="0">
                <a:solidFill>
                  <a:srgbClr val="FFFFFF"/>
                </a:solidFill>
                <a:latin typeface="Calibri"/>
              </a:rPr>
              <a:t>Foundation</a:t>
            </a:r>
          </a:p>
        </p:txBody>
      </p:sp>
      <p:sp>
        <p:nvSpPr>
          <p:cNvPr id="9" name="TextBox 8"/>
          <p:cNvSpPr txBox="1"/>
          <p:nvPr/>
        </p:nvSpPr>
        <p:spPr>
          <a:xfrm>
            <a:off x="731520" y="2395728"/>
            <a:ext cx="3017520" cy="1737360"/>
          </a:xfrm>
          <a:prstGeom prst="rect">
            <a:avLst/>
          </a:prstGeom>
          <a:noFill/>
        </p:spPr>
        <p:txBody>
          <a:bodyPr wrap="square" anchor="t" lIns="0" rIns="0" tIns="0" bIns="0">
            <a:spAutoFit/>
          </a:bodyPr>
          <a:lstStyle/>
          <a:p>
            <a:pPr>
              <a:lnSpc>
                <a:spcPct val="105000"/>
              </a:lnSpc>
              <a:spcAft>
                <a:spcPts val="700"/>
              </a:spcAft>
            </a:pPr>
            <a:r>
              <a:rPr sz="1150" b="1">
                <a:solidFill>
                  <a:srgbClr val="2E74B5"/>
                </a:solidFill>
                <a:latin typeface="Calibri"/>
              </a:rPr>
              <a:t>▪  </a:t>
            </a:r>
            <a:r>
              <a:rPr sz="1150">
                <a:solidFill>
                  <a:srgbClr val="404040"/>
                </a:solidFill>
                <a:latin typeface="Calibri"/>
              </a:rPr>
              <a:t>Prompt &amp; context engineering with GitHub Copilot</a:t>
            </a:r>
          </a:p>
          <a:p>
            <a:pPr>
              <a:lnSpc>
                <a:spcPct val="105000"/>
              </a:lnSpc>
              <a:spcAft>
                <a:spcPts val="700"/>
              </a:spcAft>
            </a:pPr>
            <a:r>
              <a:rPr sz="1150" b="1">
                <a:solidFill>
                  <a:srgbClr val="2E74B5"/>
                </a:solidFill>
                <a:latin typeface="Calibri"/>
              </a:rPr>
              <a:t>▪  </a:t>
            </a:r>
            <a:r>
              <a:rPr sz="1150">
                <a:solidFill>
                  <a:srgbClr val="404040"/>
                </a:solidFill>
                <a:latin typeface="Calibri"/>
              </a:rPr>
              <a:t>Test plans • test design • bug creation • bug triage</a:t>
            </a:r>
          </a:p>
          <a:p>
            <a:pPr>
              <a:lnSpc>
                <a:spcPct val="105000"/>
              </a:lnSpc>
              <a:spcAft>
                <a:spcPts val="700"/>
              </a:spcAft>
            </a:pPr>
            <a:r>
              <a:rPr sz="1150" b="1">
                <a:solidFill>
                  <a:srgbClr val="2E74B5"/>
                </a:solidFill>
                <a:latin typeface="Calibri"/>
              </a:rPr>
              <a:t>▪  </a:t>
            </a:r>
            <a:r>
              <a:rPr sz="1150">
                <a:solidFill>
                  <a:srgbClr val="404040"/>
                </a:solidFill>
                <a:latin typeface="Calibri"/>
              </a:rPr>
              <a:t>Human-in-the-loop: AI drafts, testers decide</a:t>
            </a:r>
          </a:p>
        </p:txBody>
      </p:sp>
      <p:sp>
        <p:nvSpPr>
          <p:cNvPr id="10" name="TextBox 9"/>
          <p:cNvSpPr txBox="1"/>
          <p:nvPr/>
        </p:nvSpPr>
        <p:spPr>
          <a:xfrm>
            <a:off x="731520" y="4114800"/>
            <a:ext cx="3017520" cy="502920"/>
          </a:xfrm>
          <a:prstGeom prst="rect">
            <a:avLst/>
          </a:prstGeom>
          <a:noFill/>
        </p:spPr>
        <p:txBody>
          <a:bodyPr wrap="square" anchor="t" lIns="0" rIns="0" tIns="0" bIns="0">
            <a:spAutoFit/>
          </a:bodyPr>
          <a:lstStyle/>
          <a:p>
            <a:pPr algn="l">
              <a:lnSpc>
                <a:spcPct val="105000"/>
              </a:lnSpc>
              <a:spcAft>
                <a:spcPts val="0"/>
              </a:spcAft>
            </a:pPr>
            <a:r>
              <a:rPr sz="1050" b="1" i="0">
                <a:solidFill>
                  <a:srgbClr val="2E74B5"/>
                </a:solidFill>
                <a:latin typeface="Calibri"/>
              </a:rPr>
              <a:t>▸  Faster, consistent test assets — full tester control</a:t>
            </a:r>
          </a:p>
        </p:txBody>
      </p:sp>
      <p:sp>
        <p:nvSpPr>
          <p:cNvPr id="11" name="Rounded Rectangle 10"/>
          <p:cNvSpPr/>
          <p:nvPr/>
        </p:nvSpPr>
        <p:spPr>
          <a:xfrm>
            <a:off x="4297680" y="1463040"/>
            <a:ext cx="3566160" cy="3200400"/>
          </a:xfrm>
          <a:prstGeom prst="roundRect">
            <a:avLst>
              <a:gd name="adj" fmla="val 45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25696" y="1591056"/>
            <a:ext cx="3310128" cy="621792"/>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0000"/>
              </a:lnSpc>
              <a:spcAft>
                <a:spcPts val="100"/>
              </a:spcAft>
            </a:pPr>
            <a:r>
              <a:rPr sz="1000" b="1" i="0">
                <a:solidFill>
                  <a:srgbClr val="FFFFFF"/>
                </a:solidFill>
                <a:latin typeface="Calibri"/>
              </a:rPr>
              <a:t>PHASE 2 — NEXT</a:t>
            </a:r>
          </a:p>
          <a:p>
            <a:pPr algn="l">
              <a:lnSpc>
                <a:spcPct val="100000"/>
              </a:lnSpc>
              <a:spcAft>
                <a:spcPts val="0"/>
              </a:spcAft>
            </a:pPr>
            <a:r>
              <a:rPr sz="1450" b="1" i="0">
                <a:solidFill>
                  <a:srgbClr val="FFFFFF"/>
                </a:solidFill>
                <a:latin typeface="Calibri"/>
              </a:rPr>
              <a:t>Intelligent &amp; Adaptive</a:t>
            </a:r>
          </a:p>
        </p:txBody>
      </p:sp>
      <p:sp>
        <p:nvSpPr>
          <p:cNvPr id="13" name="TextBox 12"/>
          <p:cNvSpPr txBox="1"/>
          <p:nvPr/>
        </p:nvSpPr>
        <p:spPr>
          <a:xfrm>
            <a:off x="4572000" y="2395728"/>
            <a:ext cx="3017520" cy="1737360"/>
          </a:xfrm>
          <a:prstGeom prst="rect">
            <a:avLst/>
          </a:prstGeom>
          <a:noFill/>
        </p:spPr>
        <p:txBody>
          <a:bodyPr wrap="square" anchor="t" lIns="0" rIns="0" tIns="0" bIns="0">
            <a:spAutoFit/>
          </a:bodyPr>
          <a:lstStyle/>
          <a:p>
            <a:pPr>
              <a:lnSpc>
                <a:spcPct val="105000"/>
              </a:lnSpc>
              <a:spcAft>
                <a:spcPts val="700"/>
              </a:spcAft>
            </a:pPr>
            <a:r>
              <a:rPr sz="1150" b="1">
                <a:solidFill>
                  <a:srgbClr val="ED7D31"/>
                </a:solidFill>
                <a:latin typeface="Calibri"/>
              </a:rPr>
              <a:t>▪  </a:t>
            </a:r>
            <a:r>
              <a:rPr sz="1150">
                <a:solidFill>
                  <a:srgbClr val="404040"/>
                </a:solidFill>
                <a:latin typeface="Calibri"/>
              </a:rPr>
              <a:t>RAG-based regression test-case identification</a:t>
            </a:r>
          </a:p>
          <a:p>
            <a:pPr>
              <a:lnSpc>
                <a:spcPct val="105000"/>
              </a:lnSpc>
              <a:spcAft>
                <a:spcPts val="700"/>
              </a:spcAft>
            </a:pPr>
            <a:r>
              <a:rPr sz="1150" b="1">
                <a:solidFill>
                  <a:srgbClr val="ED7D31"/>
                </a:solidFill>
                <a:latin typeface="Calibri"/>
              </a:rPr>
              <a:t>▪  </a:t>
            </a:r>
            <a:r>
              <a:rPr sz="1150">
                <a:solidFill>
                  <a:srgbClr val="404040"/>
                </a:solidFill>
                <a:latin typeface="Calibri"/>
              </a:rPr>
              <a:t>Retrieval over requirements, defects &amp; history</a:t>
            </a:r>
          </a:p>
          <a:p>
            <a:pPr>
              <a:lnSpc>
                <a:spcPct val="105000"/>
              </a:lnSpc>
              <a:spcAft>
                <a:spcPts val="700"/>
              </a:spcAft>
            </a:pPr>
            <a:r>
              <a:rPr sz="1150" b="1">
                <a:solidFill>
                  <a:srgbClr val="ED7D31"/>
                </a:solidFill>
                <a:latin typeface="Calibri"/>
              </a:rPr>
              <a:t>▪  </a:t>
            </a:r>
            <a:r>
              <a:rPr sz="1150">
                <a:solidFill>
                  <a:srgbClr val="404040"/>
                </a:solidFill>
                <a:latin typeface="Calibri"/>
              </a:rPr>
              <a:t>Testing AI applications and AI agents</a:t>
            </a:r>
          </a:p>
        </p:txBody>
      </p:sp>
      <p:sp>
        <p:nvSpPr>
          <p:cNvPr id="14" name="TextBox 13"/>
          <p:cNvSpPr txBox="1"/>
          <p:nvPr/>
        </p:nvSpPr>
        <p:spPr>
          <a:xfrm>
            <a:off x="4572000" y="4114800"/>
            <a:ext cx="3017520" cy="502920"/>
          </a:xfrm>
          <a:prstGeom prst="rect">
            <a:avLst/>
          </a:prstGeom>
          <a:noFill/>
        </p:spPr>
        <p:txBody>
          <a:bodyPr wrap="square" anchor="t" lIns="0" rIns="0" tIns="0" bIns="0">
            <a:spAutoFit/>
          </a:bodyPr>
          <a:lstStyle/>
          <a:p>
            <a:pPr algn="l">
              <a:lnSpc>
                <a:spcPct val="105000"/>
              </a:lnSpc>
              <a:spcAft>
                <a:spcPts val="0"/>
              </a:spcAft>
            </a:pPr>
            <a:r>
              <a:rPr sz="1050" b="1" i="0">
                <a:solidFill>
                  <a:srgbClr val="ED7D31"/>
                </a:solidFill>
                <a:latin typeface="Calibri"/>
              </a:rPr>
              <a:t>▸  Requirement-linked, model-grounded test suites</a:t>
            </a:r>
          </a:p>
        </p:txBody>
      </p:sp>
      <p:sp>
        <p:nvSpPr>
          <p:cNvPr id="15" name="Rounded Rectangle 14"/>
          <p:cNvSpPr/>
          <p:nvPr/>
        </p:nvSpPr>
        <p:spPr>
          <a:xfrm>
            <a:off x="8138160" y="1463040"/>
            <a:ext cx="3566160" cy="3200400"/>
          </a:xfrm>
          <a:prstGeom prst="roundRect">
            <a:avLst>
              <a:gd name="adj" fmla="val 45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66176" y="1591056"/>
            <a:ext cx="3310128" cy="621792"/>
          </a:xfrm>
          <a:prstGeom prst="roundRect">
            <a:avLst>
              <a:gd name="adj" fmla="val 14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0000"/>
              </a:lnSpc>
              <a:spcAft>
                <a:spcPts val="100"/>
              </a:spcAft>
            </a:pPr>
            <a:r>
              <a:rPr sz="1000" b="1" i="0">
                <a:solidFill>
                  <a:srgbClr val="FFFFFF"/>
                </a:solidFill>
                <a:latin typeface="Calibri"/>
              </a:rPr>
              <a:t>PHASE 3 — BEYOND</a:t>
            </a:r>
          </a:p>
          <a:p>
            <a:pPr algn="l">
              <a:lnSpc>
                <a:spcPct val="100000"/>
              </a:lnSpc>
              <a:spcAft>
                <a:spcPts val="0"/>
              </a:spcAft>
            </a:pPr>
            <a:r>
              <a:rPr sz="1450" b="1" i="0">
                <a:solidFill>
                  <a:srgbClr val="FFFFFF"/>
                </a:solidFill>
                <a:latin typeface="Calibri"/>
              </a:rPr>
              <a:t>Automated &amp; Governed</a:t>
            </a:r>
          </a:p>
        </p:txBody>
      </p:sp>
      <p:sp>
        <p:nvSpPr>
          <p:cNvPr id="17" name="TextBox 16"/>
          <p:cNvSpPr txBox="1"/>
          <p:nvPr/>
        </p:nvSpPr>
        <p:spPr>
          <a:xfrm>
            <a:off x="8412480" y="2395728"/>
            <a:ext cx="3017520" cy="1737360"/>
          </a:xfrm>
          <a:prstGeom prst="rect">
            <a:avLst/>
          </a:prstGeom>
          <a:noFill/>
        </p:spPr>
        <p:txBody>
          <a:bodyPr wrap="square" anchor="t" lIns="0" rIns="0" tIns="0" bIns="0">
            <a:spAutoFit/>
          </a:bodyPr>
          <a:lstStyle/>
          <a:p>
            <a:pPr>
              <a:lnSpc>
                <a:spcPct val="105000"/>
              </a:lnSpc>
              <a:spcAft>
                <a:spcPts val="700"/>
              </a:spcAft>
            </a:pPr>
            <a:r>
              <a:rPr sz="1150" b="1">
                <a:solidFill>
                  <a:srgbClr val="548235"/>
                </a:solidFill>
                <a:latin typeface="Calibri"/>
              </a:rPr>
              <a:t>▪  </a:t>
            </a:r>
            <a:r>
              <a:rPr sz="1150">
                <a:solidFill>
                  <a:srgbClr val="404040"/>
                </a:solidFill>
                <a:latin typeface="Calibri"/>
              </a:rPr>
              <a:t>AI DevOps — self-healing pipelines, continuous QE</a:t>
            </a:r>
          </a:p>
          <a:p>
            <a:pPr>
              <a:lnSpc>
                <a:spcPct val="105000"/>
              </a:lnSpc>
              <a:spcAft>
                <a:spcPts val="700"/>
              </a:spcAft>
            </a:pPr>
            <a:r>
              <a:rPr sz="1150" b="1">
                <a:solidFill>
                  <a:srgbClr val="548235"/>
                </a:solidFill>
                <a:latin typeface="Calibri"/>
              </a:rPr>
              <a:t>▪  </a:t>
            </a:r>
            <a:r>
              <a:rPr sz="1150">
                <a:solidFill>
                  <a:srgbClr val="404040"/>
                </a:solidFill>
                <a:latin typeface="Calibri"/>
              </a:rPr>
              <a:t>AI Governance — policy, risk, privacy, compliance</a:t>
            </a:r>
          </a:p>
          <a:p>
            <a:pPr>
              <a:lnSpc>
                <a:spcPct val="105000"/>
              </a:lnSpc>
              <a:spcAft>
                <a:spcPts val="700"/>
              </a:spcAft>
            </a:pPr>
            <a:r>
              <a:rPr sz="1150" b="1">
                <a:solidFill>
                  <a:srgbClr val="548235"/>
                </a:solidFill>
                <a:latin typeface="Calibri"/>
              </a:rPr>
              <a:t>▪  </a:t>
            </a:r>
            <a:r>
              <a:rPr sz="1150">
                <a:solidFill>
                  <a:srgbClr val="404040"/>
                </a:solidFill>
                <a:latin typeface="Calibri"/>
              </a:rPr>
              <a:t>Explainable, auditable quality decisions</a:t>
            </a:r>
          </a:p>
        </p:txBody>
      </p:sp>
      <p:sp>
        <p:nvSpPr>
          <p:cNvPr id="18" name="TextBox 17"/>
          <p:cNvSpPr txBox="1"/>
          <p:nvPr/>
        </p:nvSpPr>
        <p:spPr>
          <a:xfrm>
            <a:off x="8412480" y="4114800"/>
            <a:ext cx="3017520" cy="502920"/>
          </a:xfrm>
          <a:prstGeom prst="rect">
            <a:avLst/>
          </a:prstGeom>
          <a:noFill/>
        </p:spPr>
        <p:txBody>
          <a:bodyPr wrap="square" anchor="t" lIns="0" rIns="0" tIns="0" bIns="0">
            <a:spAutoFit/>
          </a:bodyPr>
          <a:lstStyle/>
          <a:p>
            <a:pPr algn="l">
              <a:lnSpc>
                <a:spcPct val="105000"/>
              </a:lnSpc>
              <a:spcAft>
                <a:spcPts val="0"/>
              </a:spcAft>
            </a:pPr>
            <a:r>
              <a:rPr sz="1050" b="1" i="0">
                <a:solidFill>
                  <a:srgbClr val="548235"/>
                </a:solidFill>
                <a:latin typeface="Calibri"/>
              </a:rPr>
              <a:t>▸  Trust, transparency &amp; enterprise readiness</a:t>
            </a:r>
          </a:p>
        </p:txBody>
      </p:sp>
      <p:sp>
        <p:nvSpPr>
          <p:cNvPr id="19" name="Right Arrow 18"/>
          <p:cNvSpPr/>
          <p:nvPr/>
        </p:nvSpPr>
        <p:spPr>
          <a:xfrm>
            <a:off x="4078224" y="2926080"/>
            <a:ext cx="182880" cy="310896"/>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7918704" y="2926080"/>
            <a:ext cx="182880" cy="310896"/>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864608"/>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2E74B5"/>
                </a:solidFill>
                <a:latin typeface="Calibri"/>
              </a:rPr>
              <a:t>KEY ENABLERS FOR THE JOURNEY</a:t>
            </a:r>
          </a:p>
        </p:txBody>
      </p:sp>
      <p:sp>
        <p:nvSpPr>
          <p:cNvPr id="22" name="Rounded Rectangle 21"/>
          <p:cNvSpPr/>
          <p:nvPr/>
        </p:nvSpPr>
        <p:spPr>
          <a:xfrm>
            <a:off x="457200" y="5230368"/>
            <a:ext cx="2670048" cy="786384"/>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100"/>
              </a:spcAft>
            </a:pPr>
            <a:r>
              <a:rPr sz="1100" b="1" i="0">
                <a:solidFill>
                  <a:srgbClr val="1F3864"/>
                </a:solidFill>
                <a:latin typeface="Calibri"/>
              </a:rPr>
              <a:t>Prompt &amp; Template Library</a:t>
            </a:r>
          </a:p>
          <a:p>
            <a:pPr algn="l">
              <a:lnSpc>
                <a:spcPct val="100000"/>
              </a:lnSpc>
              <a:spcAft>
                <a:spcPts val="0"/>
              </a:spcAft>
            </a:pPr>
            <a:r>
              <a:rPr sz="950" b="0" i="0">
                <a:solidFill>
                  <a:srgbClr val="404040"/>
                </a:solidFill>
                <a:latin typeface="Calibri"/>
              </a:rPr>
              <a:t>Reusable, versioned prompt patterns</a:t>
            </a:r>
          </a:p>
        </p:txBody>
      </p:sp>
      <p:sp>
        <p:nvSpPr>
          <p:cNvPr id="23" name="Rounded Rectangle 22"/>
          <p:cNvSpPr/>
          <p:nvPr/>
        </p:nvSpPr>
        <p:spPr>
          <a:xfrm>
            <a:off x="3328416" y="5230368"/>
            <a:ext cx="2670048" cy="786384"/>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100"/>
              </a:spcAft>
            </a:pPr>
            <a:r>
              <a:rPr sz="1100" b="1" i="0">
                <a:solidFill>
                  <a:srgbClr val="1F3864"/>
                </a:solidFill>
                <a:latin typeface="Calibri"/>
              </a:rPr>
              <a:t>RAG Knowledge Base</a:t>
            </a:r>
          </a:p>
          <a:p>
            <a:pPr algn="l">
              <a:lnSpc>
                <a:spcPct val="100000"/>
              </a:lnSpc>
              <a:spcAft>
                <a:spcPts val="0"/>
              </a:spcAft>
            </a:pPr>
            <a:r>
              <a:rPr sz="950" b="0" i="0">
                <a:solidFill>
                  <a:srgbClr val="404040"/>
                </a:solidFill>
                <a:latin typeface="Calibri"/>
              </a:rPr>
              <a:t>Requirements • defects • history</a:t>
            </a:r>
          </a:p>
        </p:txBody>
      </p:sp>
      <p:sp>
        <p:nvSpPr>
          <p:cNvPr id="24" name="Rounded Rectangle 23"/>
          <p:cNvSpPr/>
          <p:nvPr/>
        </p:nvSpPr>
        <p:spPr>
          <a:xfrm>
            <a:off x="6199632" y="5230368"/>
            <a:ext cx="2670048" cy="786384"/>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100"/>
              </a:spcAft>
            </a:pPr>
            <a:r>
              <a:rPr sz="1100" b="1" i="0">
                <a:solidFill>
                  <a:srgbClr val="1F3864"/>
                </a:solidFill>
                <a:latin typeface="Calibri"/>
              </a:rPr>
              <a:t>Human-in-the-Loop</a:t>
            </a:r>
          </a:p>
          <a:p>
            <a:pPr algn="l">
              <a:lnSpc>
                <a:spcPct val="100000"/>
              </a:lnSpc>
              <a:spcAft>
                <a:spcPts val="0"/>
              </a:spcAft>
            </a:pPr>
            <a:r>
              <a:rPr sz="950" b="0" i="0">
                <a:solidFill>
                  <a:srgbClr val="404040"/>
                </a:solidFill>
                <a:latin typeface="Calibri"/>
              </a:rPr>
              <a:t>Review gates &amp; quality ownership</a:t>
            </a:r>
          </a:p>
        </p:txBody>
      </p:sp>
      <p:sp>
        <p:nvSpPr>
          <p:cNvPr id="25" name="Rounded Rectangle 24"/>
          <p:cNvSpPr/>
          <p:nvPr/>
        </p:nvSpPr>
        <p:spPr>
          <a:xfrm>
            <a:off x="9070848" y="5230368"/>
            <a:ext cx="2670048" cy="786384"/>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100"/>
              </a:spcAft>
            </a:pPr>
            <a:r>
              <a:rPr sz="1100" b="1" i="0">
                <a:solidFill>
                  <a:srgbClr val="1F3864"/>
                </a:solidFill>
                <a:latin typeface="Calibri"/>
              </a:rPr>
              <a:t>Governance &amp; Guardrails</a:t>
            </a:r>
          </a:p>
          <a:p>
            <a:pPr algn="l">
              <a:lnSpc>
                <a:spcPct val="100000"/>
              </a:lnSpc>
              <a:spcAft>
                <a:spcPts val="0"/>
              </a:spcAft>
            </a:pPr>
            <a:r>
              <a:rPr sz="950" b="0" i="0">
                <a:solidFill>
                  <a:srgbClr val="404040"/>
                </a:solidFill>
                <a:latin typeface="Calibri"/>
              </a:rPr>
              <a:t>Policy, privacy &amp; audit trails</a:t>
            </a:r>
          </a:p>
        </p:txBody>
      </p:sp>
      <p:sp>
        <p:nvSpPr>
          <p:cNvPr id="26" name="Rounded Rectangle 25"/>
          <p:cNvSpPr/>
          <p:nvPr/>
        </p:nvSpPr>
        <p:spPr>
          <a:xfrm>
            <a:off x="457200" y="6172200"/>
            <a:ext cx="11274552" cy="411480"/>
          </a:xfrm>
          <a:prstGeom prst="roundRect">
            <a:avLst>
              <a:gd name="adj" fmla="val 5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Aft>
                <a:spcPts val="0"/>
              </a:spcAft>
            </a:pPr>
            <a:r>
              <a:rPr sz="1250" b="1" i="0">
                <a:solidFill>
                  <a:srgbClr val="1F3864"/>
                </a:solidFill>
                <a:latin typeface="Calibri"/>
              </a:rPr>
              <a:t>Our destination: quality engineering that is faster, smarter and trustworthy — powered by AI, owned by testers.</a:t>
            </a:r>
          </a:p>
        </p:txBody>
      </p:sp>
      <p:sp>
        <p:nvSpPr>
          <p:cNvPr id="27" name="TextBox 26"/>
          <p:cNvSpPr txBox="1"/>
          <p:nvPr/>
        </p:nvSpPr>
        <p:spPr>
          <a:xfrm>
            <a:off x="457200" y="6565392"/>
            <a:ext cx="7315200" cy="228600"/>
          </a:xfrm>
          <a:prstGeom prst="rect">
            <a:avLst/>
          </a:prstGeom>
          <a:noFill/>
        </p:spPr>
        <p:txBody>
          <a:bodyPr wrap="square" anchor="t" lIns="0" rIns="0" tIns="0" bIns="0">
            <a:spAutoFit/>
          </a:bodyPr>
          <a:lstStyle/>
          <a:p>
            <a:pPr algn="l">
              <a:lnSpc>
                <a:spcPct val="100000"/>
              </a:lnSpc>
              <a:spcAft>
                <a:spcPts val="0"/>
              </a:spcAft>
            </a:pPr>
            <a:r>
              <a:rPr sz="900" b="0" i="0">
                <a:solidFill>
                  <a:srgbClr val="D9D9D9"/>
                </a:solidFill>
                <a:latin typeface="Calibri"/>
              </a:rPr>
              <a:t>QE Townhall  •  AI-Enabled Quality Engineering</a:t>
            </a:r>
          </a:p>
        </p:txBody>
      </p:sp>
      <p:sp>
        <p:nvSpPr>
          <p:cNvPr id="28" name="TextBox 27"/>
          <p:cNvSpPr txBox="1"/>
          <p:nvPr/>
        </p:nvSpPr>
        <p:spPr>
          <a:xfrm>
            <a:off x="11338560" y="6565392"/>
            <a:ext cx="411480" cy="228600"/>
          </a:xfrm>
          <a:prstGeom prst="rect">
            <a:avLst/>
          </a:prstGeom>
          <a:noFill/>
        </p:spPr>
        <p:txBody>
          <a:bodyPr wrap="square" anchor="t" lIns="0" rIns="0" tIns="0" bIns="0">
            <a:spAutoFit/>
          </a:bodyPr>
          <a:lstStyle/>
          <a:p>
            <a:pPr algn="r">
              <a:lnSpc>
                <a:spcPct val="100000"/>
              </a:lnSpc>
              <a:spcAft>
                <a:spcPts val="0"/>
              </a:spcAft>
            </a:pPr>
            <a:r>
              <a:rPr sz="1000" b="1" i="0">
                <a:solidFill>
                  <a:srgbClr val="D9D9D9"/>
                </a:solidFill>
                <a:latin typeface="Calibri"/>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AI-Enabled Quality Engineering</dc:title>
  <dc:subject>QE Townhall</dc:subject>
  <dc:creator>QE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