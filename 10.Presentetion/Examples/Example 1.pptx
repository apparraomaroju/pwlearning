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307" r:id="rId5"/>
    <p:sldId id="308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1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in the prompt.
- Template1.pptx visual style, colour palette and branding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in the prompt.
- Template1.pptx visual style, colour palette and branding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in the prompt.
- Template1.pptx visual style, colour palette and branding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3118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pra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nua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92440CAB-0EA1-6C22-6B75-46D10F5D1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33954" y="2084064"/>
            <a:ext cx="6857989" cy="1502783"/>
          </a:xfrm>
          <a:prstGeom prst="roundRect">
            <a:avLst>
              <a:gd name="adj" fmla="val 0"/>
            </a:avLst>
          </a:prstGeom>
          <a:solidFill>
            <a:srgbClr val="E3DEEC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17B0E0-3A9D-A557-95B1-7F396B54BA84}"/>
              </a:ext>
            </a:extLst>
          </p:cNvPr>
          <p:cNvSpPr/>
          <p:nvPr userDrawn="1"/>
        </p:nvSpPr>
        <p:spPr>
          <a:xfrm>
            <a:off x="0" y="0"/>
            <a:ext cx="12192000" cy="944563"/>
          </a:xfrm>
          <a:prstGeom prst="rect">
            <a:avLst/>
          </a:prstGeom>
          <a:gradFill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27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7F65023-E423-A0B6-9C01-EE37816C2015}"/>
              </a:ext>
            </a:extLst>
          </p:cNvPr>
          <p:cNvSpPr txBox="1"/>
          <p:nvPr userDrawn="1"/>
        </p:nvSpPr>
        <p:spPr>
          <a:xfrm>
            <a:off x="278185" y="1174033"/>
            <a:ext cx="442210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600" b="1">
                <a:solidFill>
                  <a:srgbClr val="000000"/>
                </a:solidFill>
                <a:latin typeface="+mj-lt"/>
              </a:rPr>
              <a:t>Welcome to this guide to using </a:t>
            </a:r>
            <a:br>
              <a:rPr lang="en-GB" sz="1600" b="1">
                <a:solidFill>
                  <a:srgbClr val="000000"/>
                </a:solidFill>
                <a:latin typeface="+mj-lt"/>
              </a:rPr>
            </a:br>
            <a:r>
              <a:rPr lang="en-GB" sz="1600" b="1">
                <a:solidFill>
                  <a:srgbClr val="000000"/>
                </a:solidFill>
                <a:latin typeface="+mj-lt"/>
              </a:rPr>
              <a:t>PowerPoint templates!</a:t>
            </a:r>
            <a:endParaRPr lang="en-GB" sz="800" b="1">
              <a:solidFill>
                <a:srgbClr val="000000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endParaRPr lang="en-GB" sz="800">
              <a:solidFill>
                <a:srgbClr val="2A1449"/>
              </a:solidFill>
            </a:endParaRPr>
          </a:p>
          <a:p>
            <a:pPr algn="l">
              <a:spcBef>
                <a:spcPts val="600"/>
              </a:spcBef>
            </a:pPr>
            <a:r>
              <a:rPr lang="en-GB" sz="1600"/>
              <a:t>Whether you're a beginner or an experienced user, this manual will help you understand </a:t>
            </a:r>
            <a:br>
              <a:rPr lang="en-GB" sz="1600"/>
            </a:br>
            <a:r>
              <a:rPr lang="en-GB" sz="1600"/>
              <a:t>how to use templates effectively to create professional, impactful presentations. </a:t>
            </a:r>
            <a:endParaRPr lang="en-GB" sz="800"/>
          </a:p>
          <a:p>
            <a:pPr algn="l">
              <a:spcBef>
                <a:spcPts val="600"/>
              </a:spcBef>
            </a:pPr>
            <a:endParaRPr lang="en-GB" sz="800"/>
          </a:p>
          <a:p>
            <a:pPr algn="l">
              <a:spcBef>
                <a:spcPts val="600"/>
              </a:spcBef>
            </a:pPr>
            <a:r>
              <a:rPr lang="en-GB" sz="1600"/>
              <a:t>Follow these simple steps to quickly master </a:t>
            </a:r>
            <a:br>
              <a:rPr lang="en-GB" sz="1600"/>
            </a:br>
            <a:r>
              <a:rPr lang="en-GB" sz="1600"/>
              <a:t>the use of templates.</a:t>
            </a:r>
          </a:p>
        </p:txBody>
      </p:sp>
      <p:sp>
        <p:nvSpPr>
          <p:cNvPr id="8" name="Rounded Rectangle 12">
            <a:extLst>
              <a:ext uri="{FF2B5EF4-FFF2-40B4-BE49-F238E27FC236}">
                <a16:creationId xmlns:a16="http://schemas.microsoft.com/office/drawing/2014/main" id="{90E6C7E1-A4E0-DAD6-635A-1BB3C9032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33954" y="1149868"/>
            <a:ext cx="6857991" cy="984235"/>
          </a:xfrm>
          <a:prstGeom prst="roundRect">
            <a:avLst>
              <a:gd name="adj" fmla="val 0"/>
            </a:avLst>
          </a:prstGeom>
          <a:solidFill>
            <a:srgbClr val="FDECD9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AA1E2FB-D61B-6962-F467-38386B02D6D3}"/>
              </a:ext>
            </a:extLst>
          </p:cNvPr>
          <p:cNvSpPr txBox="1"/>
          <p:nvPr userDrawn="1"/>
        </p:nvSpPr>
        <p:spPr>
          <a:xfrm>
            <a:off x="4995568" y="1245054"/>
            <a:ext cx="2395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400" b="1">
                <a:solidFill>
                  <a:srgbClr val="2A1449"/>
                </a:solidFill>
              </a:rPr>
              <a:t>How do I open a model?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FE760E4-32CF-0EC4-C144-28AF7C01CB2C}"/>
              </a:ext>
            </a:extLst>
          </p:cNvPr>
          <p:cNvCxnSpPr>
            <a:cxnSpLocks/>
          </p:cNvCxnSpPr>
          <p:nvPr userDrawn="1"/>
        </p:nvCxnSpPr>
        <p:spPr>
          <a:xfrm>
            <a:off x="7557234" y="1245054"/>
            <a:ext cx="0" cy="753840"/>
          </a:xfrm>
          <a:prstGeom prst="line">
            <a:avLst/>
          </a:prstGeom>
          <a:ln>
            <a:solidFill>
              <a:srgbClr val="2A1449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C543351A-C00F-A5A9-90B5-A8D8817DAEE5}"/>
              </a:ext>
            </a:extLst>
          </p:cNvPr>
          <p:cNvSpPr txBox="1"/>
          <p:nvPr userDrawn="1"/>
        </p:nvSpPr>
        <p:spPr>
          <a:xfrm>
            <a:off x="7924801" y="1223964"/>
            <a:ext cx="38760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Open PowerPoint or the Brand Centre (PowerPoint Templates)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C6C58C8-9C3A-6E83-BB58-B9C329CC177D}"/>
              </a:ext>
            </a:extLst>
          </p:cNvPr>
          <p:cNvSpPr txBox="1"/>
          <p:nvPr userDrawn="1"/>
        </p:nvSpPr>
        <p:spPr>
          <a:xfrm>
            <a:off x="7924801" y="1521006"/>
            <a:ext cx="27291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Go to the </a:t>
            </a:r>
            <a:r>
              <a:rPr lang="en-GB" sz="1050" b="1">
                <a:solidFill>
                  <a:srgbClr val="4D1D82"/>
                </a:solidFill>
              </a:rPr>
              <a:t>“File” </a:t>
            </a:r>
            <a:r>
              <a:rPr lang="en-GB" sz="1050">
                <a:solidFill>
                  <a:schemeClr val="tx1"/>
                </a:solidFill>
              </a:rPr>
              <a:t>tab, then click on </a:t>
            </a:r>
            <a:r>
              <a:rPr lang="en-GB" sz="1050" b="1">
                <a:solidFill>
                  <a:srgbClr val="4D1D82"/>
                </a:solidFill>
              </a:rPr>
              <a:t>“New”.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96D3FB4-CED0-3477-DD10-CEA780DC56C3}"/>
              </a:ext>
            </a:extLst>
          </p:cNvPr>
          <p:cNvSpPr txBox="1">
            <a:spLocks/>
          </p:cNvSpPr>
          <p:nvPr userDrawn="1"/>
        </p:nvSpPr>
        <p:spPr>
          <a:xfrm>
            <a:off x="7924802" y="1818049"/>
            <a:ext cx="31029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 b="1">
                <a:solidFill>
                  <a:srgbClr val="4D1D82"/>
                </a:solidFill>
              </a:rPr>
              <a:t>Choose a template </a:t>
            </a:r>
            <a:r>
              <a:rPr lang="en-GB" sz="1050">
                <a:solidFill>
                  <a:schemeClr val="tx1"/>
                </a:solidFill>
              </a:rPr>
              <a:t>from the available models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8A41296-8140-112B-AF77-3600D97B3B0F}"/>
              </a:ext>
            </a:extLst>
          </p:cNvPr>
          <p:cNvSpPr txBox="1"/>
          <p:nvPr userDrawn="1"/>
        </p:nvSpPr>
        <p:spPr>
          <a:xfrm>
            <a:off x="4933951" y="2261556"/>
            <a:ext cx="2609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400" b="1">
                <a:solidFill>
                  <a:srgbClr val="2A1449"/>
                </a:solidFill>
              </a:rPr>
              <a:t>How do I paste slides from another presentation?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05EA303-BB22-90F4-1425-2191C1183CA1}"/>
              </a:ext>
            </a:extLst>
          </p:cNvPr>
          <p:cNvCxnSpPr>
            <a:cxnSpLocks/>
          </p:cNvCxnSpPr>
          <p:nvPr userDrawn="1"/>
        </p:nvCxnSpPr>
        <p:spPr>
          <a:xfrm>
            <a:off x="7557234" y="2368428"/>
            <a:ext cx="0" cy="934054"/>
          </a:xfrm>
          <a:prstGeom prst="line">
            <a:avLst/>
          </a:prstGeom>
          <a:ln>
            <a:solidFill>
              <a:srgbClr val="2A1449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800C025F-0E9F-3F9D-4867-EFF4E509A9E7}"/>
              </a:ext>
            </a:extLst>
          </p:cNvPr>
          <p:cNvSpPr txBox="1"/>
          <p:nvPr userDrawn="1"/>
        </p:nvSpPr>
        <p:spPr>
          <a:xfrm>
            <a:off x="7625062" y="2211918"/>
            <a:ext cx="410973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 b="1">
                <a:solidFill>
                  <a:srgbClr val="4D1D82"/>
                </a:solidFill>
              </a:rPr>
              <a:t>If you wish to copy/paste one or more slides from an older presentation </a:t>
            </a:r>
            <a:r>
              <a:rPr lang="en-GB" sz="1050">
                <a:solidFill>
                  <a:schemeClr val="tx1"/>
                </a:solidFill>
              </a:rPr>
              <a:t>from another PowerPoint document and apply the formatting (fonts, colours, template)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55BDBE-6FC0-EA97-048E-A2A99B5466B7}"/>
              </a:ext>
            </a:extLst>
          </p:cNvPr>
          <p:cNvSpPr>
            <a:spLocks noChangeAspect="1"/>
          </p:cNvSpPr>
          <p:nvPr userDrawn="1"/>
        </p:nvSpPr>
        <p:spPr>
          <a:xfrm>
            <a:off x="7720303" y="1260922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C88E90C-36B4-4F00-3CF8-5D8AF2C3631B}"/>
              </a:ext>
            </a:extLst>
          </p:cNvPr>
          <p:cNvSpPr txBox="1"/>
          <p:nvPr userDrawn="1"/>
        </p:nvSpPr>
        <p:spPr>
          <a:xfrm>
            <a:off x="7924801" y="2886372"/>
            <a:ext cx="38861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Copy/paste the slide(s) from your other PowerPoint document</a:t>
            </a:r>
            <a:endParaRPr lang="en-GB" sz="1050" b="1">
              <a:solidFill>
                <a:srgbClr val="2A1449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5B30781-55C2-0914-AB12-FA4F35BE8C59}"/>
              </a:ext>
            </a:extLst>
          </p:cNvPr>
          <p:cNvSpPr txBox="1"/>
          <p:nvPr userDrawn="1"/>
        </p:nvSpPr>
        <p:spPr>
          <a:xfrm>
            <a:off x="7924801" y="3164487"/>
            <a:ext cx="38154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 b="0">
                <a:solidFill>
                  <a:srgbClr val="2A1449"/>
                </a:solidFill>
              </a:rPr>
              <a:t>In the new layout: select the location, then paste options and finally </a:t>
            </a:r>
            <a:r>
              <a:rPr lang="en-GB" sz="1050" b="1">
                <a:solidFill>
                  <a:schemeClr val="accent6"/>
                </a:solidFill>
              </a:rPr>
              <a:t>“use destination theme”.</a:t>
            </a:r>
            <a:endParaRPr lang="en-GB" sz="1050">
              <a:solidFill>
                <a:schemeClr val="accent6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96042A-74E8-325A-EC56-1392E6EF846D}"/>
              </a:ext>
            </a:extLst>
          </p:cNvPr>
          <p:cNvSpPr>
            <a:spLocks noChangeAspect="1"/>
          </p:cNvSpPr>
          <p:nvPr userDrawn="1"/>
        </p:nvSpPr>
        <p:spPr>
          <a:xfrm>
            <a:off x="7720303" y="1550595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3E2EC8-3546-2095-AB72-C753524B358C}"/>
              </a:ext>
            </a:extLst>
          </p:cNvPr>
          <p:cNvSpPr>
            <a:spLocks noChangeAspect="1"/>
          </p:cNvSpPr>
          <p:nvPr userDrawn="1"/>
        </p:nvSpPr>
        <p:spPr>
          <a:xfrm>
            <a:off x="7720303" y="1855007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0C7EEB-F15A-BE3C-D454-2AF9CC3A6638}"/>
              </a:ext>
            </a:extLst>
          </p:cNvPr>
          <p:cNvSpPr>
            <a:spLocks noChangeAspect="1"/>
          </p:cNvSpPr>
          <p:nvPr userDrawn="1"/>
        </p:nvSpPr>
        <p:spPr>
          <a:xfrm>
            <a:off x="7717779" y="2914514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2F83E0-3F61-2757-47D5-9D30DC6F255C}"/>
              </a:ext>
            </a:extLst>
          </p:cNvPr>
          <p:cNvSpPr>
            <a:spLocks noChangeAspect="1"/>
          </p:cNvSpPr>
          <p:nvPr userDrawn="1"/>
        </p:nvSpPr>
        <p:spPr>
          <a:xfrm>
            <a:off x="7717779" y="3204187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949ABF07-8FDD-7414-0606-A0D8A6A59D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1748" y="3683747"/>
            <a:ext cx="6542400" cy="2521304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711B61A6-34EC-A91C-6F6E-9238EF3F9D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8355" y="4118150"/>
            <a:ext cx="1698430" cy="204322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4592DDE-94AE-3820-24F6-E6B123E2C9D6}"/>
              </a:ext>
            </a:extLst>
          </p:cNvPr>
          <p:cNvSpPr/>
          <p:nvPr userDrawn="1"/>
        </p:nvSpPr>
        <p:spPr>
          <a:xfrm>
            <a:off x="5105400" y="3886200"/>
            <a:ext cx="304800" cy="304800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00EF806-45F7-E426-19FE-E92584B15854}"/>
              </a:ext>
            </a:extLst>
          </p:cNvPr>
          <p:cNvSpPr txBox="1"/>
          <p:nvPr userDrawn="1"/>
        </p:nvSpPr>
        <p:spPr>
          <a:xfrm>
            <a:off x="7738241" y="1212452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1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29AC7D1-1C11-B2C6-C58D-2A7217F909E7}"/>
              </a:ext>
            </a:extLst>
          </p:cNvPr>
          <p:cNvSpPr txBox="1"/>
          <p:nvPr userDrawn="1"/>
        </p:nvSpPr>
        <p:spPr>
          <a:xfrm>
            <a:off x="7729478" y="1505490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2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90E7471-32CC-415D-20E7-2A0028D24474}"/>
              </a:ext>
            </a:extLst>
          </p:cNvPr>
          <p:cNvSpPr txBox="1"/>
          <p:nvPr userDrawn="1"/>
        </p:nvSpPr>
        <p:spPr>
          <a:xfrm>
            <a:off x="7722671" y="1792763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3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BC52DBF-AFF0-EF5F-B37A-426BD49F79F1}"/>
              </a:ext>
            </a:extLst>
          </p:cNvPr>
          <p:cNvSpPr txBox="1"/>
          <p:nvPr userDrawn="1"/>
        </p:nvSpPr>
        <p:spPr>
          <a:xfrm>
            <a:off x="7716242" y="2853567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1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3D756ED-EDD5-9133-ED15-6FF4B92024C4}"/>
              </a:ext>
            </a:extLst>
          </p:cNvPr>
          <p:cNvSpPr txBox="1"/>
          <p:nvPr userDrawn="1"/>
        </p:nvSpPr>
        <p:spPr>
          <a:xfrm>
            <a:off x="7724234" y="3152001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2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DC6C6E4-FB16-96CD-FD08-D777D77793FA}"/>
              </a:ext>
            </a:extLst>
          </p:cNvPr>
          <p:cNvSpPr txBox="1"/>
          <p:nvPr userDrawn="1"/>
        </p:nvSpPr>
        <p:spPr>
          <a:xfrm>
            <a:off x="278185" y="210671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2800" b="0" noProof="0">
                <a:solidFill>
                  <a:schemeClr val="bg2"/>
                </a:solidFill>
                <a:latin typeface="+mj-lt"/>
              </a:rPr>
              <a:t>PowerPoint templates user manual</a:t>
            </a:r>
            <a:endParaRPr lang="fr-FR" sz="2800" b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2022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0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nua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2">
            <a:extLst>
              <a:ext uri="{FF2B5EF4-FFF2-40B4-BE49-F238E27FC236}">
                <a16:creationId xmlns:a16="http://schemas.microsoft.com/office/drawing/2014/main" id="{E6484376-4929-EB5E-5F53-8BA59CFF2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09599" y="1628775"/>
            <a:ext cx="2690489" cy="2562225"/>
          </a:xfrm>
          <a:prstGeom prst="roundRect">
            <a:avLst>
              <a:gd name="adj" fmla="val 0"/>
            </a:avLst>
          </a:prstGeom>
          <a:solidFill>
            <a:srgbClr val="E3DEEC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05CE3-4CA1-8A57-E592-283DDCFF13FC}"/>
              </a:ext>
            </a:extLst>
          </p:cNvPr>
          <p:cNvSpPr/>
          <p:nvPr userDrawn="1"/>
        </p:nvSpPr>
        <p:spPr>
          <a:xfrm>
            <a:off x="0" y="0"/>
            <a:ext cx="12192000" cy="944563"/>
          </a:xfrm>
          <a:prstGeom prst="rect">
            <a:avLst/>
          </a:prstGeom>
          <a:gradFill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27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9CD9B61-ED78-5568-C2D5-63233BFFF899}"/>
              </a:ext>
            </a:extLst>
          </p:cNvPr>
          <p:cNvSpPr txBox="1"/>
          <p:nvPr userDrawn="1"/>
        </p:nvSpPr>
        <p:spPr>
          <a:xfrm>
            <a:off x="609600" y="1736162"/>
            <a:ext cx="2200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400" b="1">
                <a:solidFill>
                  <a:srgbClr val="2A1449"/>
                </a:solidFill>
              </a:rPr>
              <a:t>Insert a slide </a:t>
            </a:r>
            <a:br>
              <a:rPr lang="en-GB" sz="1400" b="1">
                <a:solidFill>
                  <a:srgbClr val="2A1449"/>
                </a:solidFill>
              </a:rPr>
            </a:br>
            <a:r>
              <a:rPr lang="en-GB" sz="1400" b="1">
                <a:solidFill>
                  <a:srgbClr val="2A1449"/>
                </a:solidFill>
              </a:rPr>
              <a:t>from the template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295E25E-83CB-3B9D-168D-C48A9C377E3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1171898" y="1895173"/>
            <a:ext cx="0" cy="934054"/>
          </a:xfrm>
          <a:prstGeom prst="line">
            <a:avLst/>
          </a:prstGeom>
          <a:ln>
            <a:solidFill>
              <a:srgbClr val="2A1449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A7C1A14F-C1DC-7FD3-C55E-5EF2B6EA2394}"/>
              </a:ext>
            </a:extLst>
          </p:cNvPr>
          <p:cNvSpPr txBox="1"/>
          <p:nvPr userDrawn="1"/>
        </p:nvSpPr>
        <p:spPr>
          <a:xfrm>
            <a:off x="845988" y="2485707"/>
            <a:ext cx="235441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Once the template is open, </a:t>
            </a:r>
            <a:br>
              <a:rPr lang="en-GB" sz="1050">
                <a:solidFill>
                  <a:schemeClr val="tx1"/>
                </a:solidFill>
              </a:rPr>
            </a:br>
            <a:r>
              <a:rPr lang="en-GB" sz="1050">
                <a:solidFill>
                  <a:schemeClr val="tx1"/>
                </a:solidFill>
              </a:rPr>
              <a:t>to add a new slide, click on </a:t>
            </a:r>
            <a:br>
              <a:rPr lang="en-GB" sz="1050">
                <a:solidFill>
                  <a:schemeClr val="tx1"/>
                </a:solidFill>
              </a:rPr>
            </a:br>
            <a:r>
              <a:rPr lang="en-GB" sz="1050" b="1">
                <a:solidFill>
                  <a:schemeClr val="accent6"/>
                </a:solidFill>
              </a:rPr>
              <a:t>“New slide” </a:t>
            </a:r>
            <a:r>
              <a:rPr lang="en-GB" sz="1050">
                <a:solidFill>
                  <a:schemeClr val="tx1"/>
                </a:solidFill>
              </a:rPr>
              <a:t>in the Home tab.</a:t>
            </a:r>
            <a:endParaRPr lang="en-GB" sz="1050" b="1">
              <a:solidFill>
                <a:srgbClr val="2A1449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043F639-A407-C9AF-8E3B-32C9020E171E}"/>
              </a:ext>
            </a:extLst>
          </p:cNvPr>
          <p:cNvSpPr txBox="1"/>
          <p:nvPr userDrawn="1"/>
        </p:nvSpPr>
        <p:spPr>
          <a:xfrm>
            <a:off x="883126" y="3219133"/>
            <a:ext cx="208596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 b="0">
                <a:solidFill>
                  <a:schemeClr val="tx1"/>
                </a:solidFill>
                <a:latin typeface="+mn-lt"/>
              </a:rPr>
              <a:t>Select a layout from those suggested for the new slide </a:t>
            </a:r>
            <a:br>
              <a:rPr lang="en-GB" sz="1050" b="0">
                <a:solidFill>
                  <a:schemeClr val="tx1"/>
                </a:solidFill>
                <a:latin typeface="+mn-lt"/>
              </a:rPr>
            </a:br>
            <a:r>
              <a:rPr lang="en-GB" sz="1050" b="0">
                <a:solidFill>
                  <a:schemeClr val="tx1"/>
                </a:solidFill>
                <a:latin typeface="+mn-lt"/>
              </a:rPr>
              <a:t>(title, content, image...).</a:t>
            </a:r>
            <a:endParaRPr lang="en-GB" sz="105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05BBF8-F9C1-D9A1-57EF-AD26F7CD739E}"/>
              </a:ext>
            </a:extLst>
          </p:cNvPr>
          <p:cNvSpPr>
            <a:spLocks noChangeAspect="1"/>
          </p:cNvSpPr>
          <p:nvPr userDrawn="1"/>
        </p:nvSpPr>
        <p:spPr>
          <a:xfrm>
            <a:off x="704871" y="2519719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0BDCDB-52B6-B918-F88B-E968DFEB124B}"/>
              </a:ext>
            </a:extLst>
          </p:cNvPr>
          <p:cNvSpPr>
            <a:spLocks noChangeAspect="1"/>
          </p:cNvSpPr>
          <p:nvPr userDrawn="1"/>
        </p:nvSpPr>
        <p:spPr>
          <a:xfrm>
            <a:off x="704871" y="3265359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CE90697-072E-AD4D-D021-BACFB337F2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5140" y="1607785"/>
            <a:ext cx="7587260" cy="395481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C0799752-826B-D885-A80D-02FCD13E9D19}"/>
              </a:ext>
            </a:extLst>
          </p:cNvPr>
          <p:cNvSpPr txBox="1"/>
          <p:nvPr userDrawn="1"/>
        </p:nvSpPr>
        <p:spPr>
          <a:xfrm>
            <a:off x="278185" y="210671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2800" b="0" noProof="0">
                <a:solidFill>
                  <a:schemeClr val="bg2"/>
                </a:solidFill>
                <a:latin typeface="+mj-lt"/>
              </a:rPr>
              <a:t>Modifying slide elements</a:t>
            </a:r>
            <a:endParaRPr lang="fr-FR" sz="2800" b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Espace réservé du pied de page 2">
            <a:extLst>
              <a:ext uri="{FF2B5EF4-FFF2-40B4-BE49-F238E27FC236}">
                <a16:creationId xmlns:a16="http://schemas.microsoft.com/office/drawing/2014/main" id="{3F38013C-FF76-717B-243A-9567FB5D50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71898" y="6332221"/>
            <a:ext cx="3495672" cy="12311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E22A04E-78FA-F4C4-6554-3FCD02095E57}"/>
              </a:ext>
            </a:extLst>
          </p:cNvPr>
          <p:cNvSpPr txBox="1"/>
          <p:nvPr userDrawn="1"/>
        </p:nvSpPr>
        <p:spPr>
          <a:xfrm>
            <a:off x="700531" y="2454766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1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B11D8F7-20B2-21B3-E2E3-A82D61BFD334}"/>
              </a:ext>
            </a:extLst>
          </p:cNvPr>
          <p:cNvSpPr txBox="1"/>
          <p:nvPr userDrawn="1"/>
        </p:nvSpPr>
        <p:spPr>
          <a:xfrm>
            <a:off x="700052" y="3212370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2</a:t>
            </a:r>
            <a:endParaRPr lang="fr-FR" sz="1200" b="0" noProof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358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56CF55-19EB-1329-F989-609E54F933B0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10302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900">
                <a:solidFill>
                  <a:srgbClr val="CF022B">
                    <a:alpha val="5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C2 - Restricted use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8360" y="201168"/>
            <a:ext cx="1828800" cy="2468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04672"/>
            <a:ext cx="4389120" cy="32004"/>
          </a:xfrm>
          <a:prstGeom prst="rect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389120" y="804672"/>
            <a:ext cx="2743200" cy="32004"/>
          </a:xfrm>
          <a:prstGeom prst="rect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132320" y="804672"/>
            <a:ext cx="5059375" cy="32004"/>
          </a:xfrm>
          <a:prstGeom prst="rect">
            <a:avLst/>
          </a:prstGeom>
          <a:solidFill>
            <a:srgbClr val="FD8C00"/>
          </a:solidFill>
          <a:ln w="12700">
            <a:solidFill>
              <a:srgbClr val="FD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051560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snapshot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1792" y="15727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Audit-facing overview of application scope, cadence and quality controls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0" y="6702552"/>
            <a:ext cx="4937760" cy="22860"/>
          </a:xfrm>
          <a:prstGeom prst="rect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37760" y="6702552"/>
            <a:ext cx="2743200" cy="22860"/>
          </a:xfrm>
          <a:prstGeom prst="rect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680960" y="6702552"/>
            <a:ext cx="1463040" cy="22860"/>
          </a:xfrm>
          <a:prstGeom prst="rect">
            <a:avLst/>
          </a:prstGeom>
          <a:solidFill>
            <a:srgbClr val="FD8C00"/>
          </a:solidFill>
          <a:ln w="12700">
            <a:solidFill>
              <a:srgbClr val="FD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00000"/>
                </a:solidFill>
              </a:rPr>
              <a:t>2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1024128" y="647395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6B6B"/>
                </a:solidFill>
              </a:rPr>
              <a:t>Sopra Steria Sales CRM | Scrum Ways of Working &amp; Quality Gates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45720" y="671169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F022B"/>
                </a:solidFill>
              </a:rPr>
              <a:t>C2 - Restricted use</a:t>
            </a:r>
            <a:endParaRPr lang="en-US" sz="5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8440" y="6382512"/>
            <a:ext cx="1051560" cy="1371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1792" y="1984248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4E0E7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86384" y="2112264"/>
            <a:ext cx="227685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A1449"/>
                </a:solidFill>
              </a:rPr>
              <a:t>Application scope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86384" y="2468880"/>
            <a:ext cx="2276856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CRM application used by Sopra Steria SE (Germany) and associated legal entities: Sopra Steria Austria, ISS Software GmbH and it-economics GmbH.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429000" y="1984248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4E0E7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593592" y="2112264"/>
            <a:ext cx="227685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A1449"/>
                </a:solidFill>
              </a:rPr>
              <a:t>Primary users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593592" y="2468880"/>
            <a:ext cx="2276856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Marketing, (Pre-)Sales and supporting functions including Industrial Direction and Finance &amp; Controlling.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236208" y="1984248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4E0E7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400800" y="2112264"/>
            <a:ext cx="227685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A1449"/>
                </a:solidFill>
              </a:rPr>
              <a:t>Delivery model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00800" y="2468880"/>
            <a:ext cx="2276856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Scrum cadence of two weeks, with documented Ways of Working and recurrent ceremonies.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9043416" y="1984248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4E0E7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9208008" y="2112264"/>
            <a:ext cx="218541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A1449"/>
                </a:solidFill>
              </a:rPr>
              <a:t>Control objective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208008" y="2468880"/>
            <a:ext cx="2185416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Prevent unready work entering development through solution design, estimation and Definition of Ready gates.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21792" y="3730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F022B"/>
                </a:solidFill>
              </a:rPr>
              <a:t>Audit narrative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621792" y="3959352"/>
            <a:ext cx="3840480" cy="0"/>
          </a:xfrm>
          <a:prstGeom prst="line">
            <a:avLst/>
          </a:prstGeom>
          <a:noFill/>
          <a:ln w="1016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21792" y="4096512"/>
            <a:ext cx="46634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A1449"/>
                </a:solidFill>
              </a:rPr>
              <a:t>The process is designed to provide traceable evidence that backlog items are understood, solutioned, estimated, and committed only after quality criteria are fulfilled.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5715000" y="3767328"/>
            <a:ext cx="5833872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016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5879592" y="3895344"/>
            <a:ext cx="550468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F022B"/>
                </a:solidFill>
              </a:rPr>
              <a:t>Key message for TickIT auditor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879592" y="4251960"/>
            <a:ext cx="5504688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61616"/>
                </a:solidFill>
              </a:rPr>
              <a:t>A structured gate-based approach ensures that user stories do not enter development without Initial Solution Design, estimation and Definition of Ready compliance.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8360" y="201168"/>
            <a:ext cx="1828800" cy="2468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04672"/>
            <a:ext cx="4389120" cy="32004"/>
          </a:xfrm>
          <a:prstGeom prst="rect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389120" y="804672"/>
            <a:ext cx="2743200" cy="32004"/>
          </a:xfrm>
          <a:prstGeom prst="rect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132320" y="804672"/>
            <a:ext cx="5059375" cy="32004"/>
          </a:xfrm>
          <a:prstGeom prst="rect">
            <a:avLst/>
          </a:prstGeom>
          <a:solidFill>
            <a:srgbClr val="FD8C00"/>
          </a:solidFill>
          <a:ln w="12700">
            <a:solidFill>
              <a:srgbClr val="FD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051560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 and responsibility map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1792" y="15727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Clear stakeholder view across onsite, offshore and QA streams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0" y="6702552"/>
            <a:ext cx="4937760" cy="22860"/>
          </a:xfrm>
          <a:prstGeom prst="rect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37760" y="6702552"/>
            <a:ext cx="2743200" cy="22860"/>
          </a:xfrm>
          <a:prstGeom prst="rect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680960" y="6702552"/>
            <a:ext cx="1463040" cy="22860"/>
          </a:xfrm>
          <a:prstGeom prst="rect">
            <a:avLst/>
          </a:prstGeom>
          <a:solidFill>
            <a:srgbClr val="FD8C00"/>
          </a:solidFill>
          <a:ln w="12700">
            <a:solidFill>
              <a:srgbClr val="FD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00000"/>
                </a:solidFill>
              </a:rPr>
              <a:t>3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1024128" y="647395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6B6B"/>
                </a:solidFill>
              </a:rPr>
              <a:t>Sopra Steria Sales CRM | Scrum Ways of Working &amp; Quality Gates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45720" y="671169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F022B"/>
                </a:solidFill>
              </a:rPr>
              <a:t>C2 - Restricted use</a:t>
            </a:r>
            <a:endParaRPr lang="en-US" sz="5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8440" y="6382512"/>
            <a:ext cx="1051560" cy="137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" y="1874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1D82"/>
                </a:solidFill>
              </a:rPr>
              <a:t>Onsite / Business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66928" y="2103120"/>
            <a:ext cx="3291840" cy="0"/>
          </a:xfrm>
          <a:prstGeom prst="line">
            <a:avLst/>
          </a:prstGeom>
          <a:noFill/>
          <a:ln w="1016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66928" y="2240280"/>
            <a:ext cx="3200400" cy="2331720"/>
          </a:xfrm>
          <a:prstGeom prst="roundRect">
            <a:avLst>
              <a:gd name="adj" fmla="val 3137"/>
            </a:avLst>
          </a:prstGeom>
          <a:solidFill>
            <a:srgbClr val="FBF8FF"/>
          </a:solidFill>
          <a:ln w="10160">
            <a:solidFill>
              <a:srgbClr val="E6D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31520" y="2368296"/>
            <a:ext cx="287121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A1449"/>
                </a:solidFill>
              </a:rPr>
              <a:t>Business &amp; Product Ownership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31520" y="2724912"/>
            <a:ext cx="2871216" cy="1737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• Business Sponsor: Marion Dietrich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• Product Owner: Christoph Zaenker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• Business Analyst: Fractional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370832" y="1874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F022B"/>
                </a:solidFill>
              </a:rPr>
              <a:t>Offshore / Delivery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370832" y="2103120"/>
            <a:ext cx="3291840" cy="0"/>
          </a:xfrm>
          <a:prstGeom prst="line">
            <a:avLst/>
          </a:prstGeom>
          <a:noFill/>
          <a:ln w="1016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370832" y="2240280"/>
            <a:ext cx="3200400" cy="2331720"/>
          </a:xfrm>
          <a:prstGeom prst="roundRect">
            <a:avLst>
              <a:gd name="adj" fmla="val 3137"/>
            </a:avLst>
          </a:prstGeom>
          <a:solidFill>
            <a:srgbClr val="FFF7F4"/>
          </a:solidFill>
          <a:ln w="10160">
            <a:solidFill>
              <a:srgbClr val="F0D4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535424" y="2368296"/>
            <a:ext cx="287121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A1449"/>
                </a:solidFill>
              </a:rPr>
              <a:t>Delivery &amp; Operations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35424" y="2724912"/>
            <a:ext cx="2871216" cy="1737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• DU Head: Vishal Kalra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• Scrum Master: Apparao Maroju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• Account Engagement Expert: Ila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• Operations &amp; Deployment Manager: Charu Bisht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8183880" y="1874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D8C00"/>
                </a:solidFill>
              </a:rPr>
              <a:t>QA / Assurance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8183880" y="2103120"/>
            <a:ext cx="3200400" cy="0"/>
          </a:xfrm>
          <a:prstGeom prst="line">
            <a:avLst/>
          </a:prstGeom>
          <a:noFill/>
          <a:ln w="10160">
            <a:solidFill>
              <a:srgbClr val="FD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8183880" y="2240280"/>
            <a:ext cx="3200400" cy="2331720"/>
          </a:xfrm>
          <a:prstGeom prst="roundRect">
            <a:avLst>
              <a:gd name="adj" fmla="val 3137"/>
            </a:avLst>
          </a:prstGeom>
          <a:solidFill>
            <a:srgbClr val="FFF9EB"/>
          </a:solidFill>
          <a:ln w="10160">
            <a:solidFill>
              <a:srgbClr val="F1D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8348472" y="2368296"/>
            <a:ext cx="287121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A1449"/>
                </a:solidFill>
              </a:rPr>
              <a:t>Quality Management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348472" y="2724912"/>
            <a:ext cx="2871216" cy="1737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• Test Manager: Manish Singhal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• Test Engineering Team: Rishabh Bhatt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• Salesforce Development Team: Sunaina, Manmohan Pratap, Shashwat Mishra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3840480" y="3063240"/>
            <a:ext cx="338328" cy="502920"/>
          </a:xfrm>
          <a:prstGeom prst="chevron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7635240" y="3063240"/>
            <a:ext cx="338328" cy="502920"/>
          </a:xfrm>
          <a:prstGeom prst="chevron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566928" y="4983480"/>
            <a:ext cx="10817352" cy="685800"/>
          </a:xfrm>
          <a:prstGeom prst="roundRect">
            <a:avLst>
              <a:gd name="adj" fmla="val 10667"/>
            </a:avLst>
          </a:prstGeom>
          <a:solidFill>
            <a:srgbClr val="F5F5F5"/>
          </a:solidFill>
          <a:ln w="1016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731520" y="5111496"/>
            <a:ext cx="1048816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A1449"/>
                </a:solidFill>
              </a:rPr>
              <a:t>Governance principle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731520" y="5468112"/>
            <a:ext cx="10488168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</a:rPr>
              <a:t>Product Owner defines business intent; Scrum Master facilitates cadence; delivery teams solution and estimate; QA validates quality and test readiness.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8360" y="201168"/>
            <a:ext cx="1828800" cy="2468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04672"/>
            <a:ext cx="4389120" cy="32004"/>
          </a:xfrm>
          <a:prstGeom prst="rect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389120" y="804672"/>
            <a:ext cx="2743200" cy="32004"/>
          </a:xfrm>
          <a:prstGeom prst="rect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132320" y="804672"/>
            <a:ext cx="5059375" cy="32004"/>
          </a:xfrm>
          <a:prstGeom prst="rect">
            <a:avLst/>
          </a:prstGeom>
          <a:solidFill>
            <a:srgbClr val="FD8C00"/>
          </a:solidFill>
          <a:ln w="12700">
            <a:solidFill>
              <a:srgbClr val="FD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051560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Two-week Scrum cadence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1792" y="15727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Ceremonies create a predictable control rhythm for backlog flow and sprint commitment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0" y="6702552"/>
            <a:ext cx="4937760" cy="22860"/>
          </a:xfrm>
          <a:prstGeom prst="rect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37760" y="6702552"/>
            <a:ext cx="2743200" cy="22860"/>
          </a:xfrm>
          <a:prstGeom prst="rect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680960" y="6702552"/>
            <a:ext cx="1463040" cy="22860"/>
          </a:xfrm>
          <a:prstGeom prst="rect">
            <a:avLst/>
          </a:prstGeom>
          <a:solidFill>
            <a:srgbClr val="FD8C00"/>
          </a:solidFill>
          <a:ln w="12700">
            <a:solidFill>
              <a:srgbClr val="FD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00000"/>
                </a:solidFill>
              </a:rPr>
              <a:t>4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1024128" y="647395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6B6B"/>
                </a:solidFill>
              </a:rPr>
              <a:t>Sopra Steria Sales CRM | Scrum Ways of Working &amp; Quality Gates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45720" y="671169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F022B"/>
                </a:solidFill>
              </a:rPr>
              <a:t>C2 - Restricted use</a:t>
            </a:r>
            <a:endParaRPr lang="en-US" sz="5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8440" y="6382512"/>
            <a:ext cx="1051560" cy="1371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" y="2057400"/>
            <a:ext cx="402336" cy="402336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40080" y="21396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188720" y="19202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1353312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A1449"/>
                </a:solidFill>
              </a:rPr>
              <a:t>Backlog Refinement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353312" y="2450592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61616"/>
                </a:solidFill>
              </a:rPr>
              <a:t>PO selects PBIs; team clarifies, solutions and estimates.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3310128" y="2331720"/>
            <a:ext cx="201168" cy="384048"/>
          </a:xfrm>
          <a:prstGeom prst="chevron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474720" y="2057400"/>
            <a:ext cx="402336" cy="402336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474720" y="21396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023360" y="19202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187952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A1449"/>
                </a:solidFill>
              </a:rPr>
              <a:t>Clarification Call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187952" y="2450592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61616"/>
                </a:solidFill>
              </a:rPr>
              <a:t>Daily option for PO involvement on blockers or open questions.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6144768" y="2331720"/>
            <a:ext cx="201168" cy="384048"/>
          </a:xfrm>
          <a:prstGeom prst="chevron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6309360" y="2057400"/>
            <a:ext cx="402336" cy="402336"/>
          </a:xfrm>
          <a:prstGeom prst="ellipse">
            <a:avLst/>
          </a:prstGeom>
          <a:solidFill>
            <a:srgbClr val="FD8C00"/>
          </a:solidFill>
          <a:ln w="12700">
            <a:solidFill>
              <a:srgbClr val="FD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309360" y="21396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858000" y="19202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7022592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A1449"/>
                </a:solidFill>
              </a:rPr>
              <a:t>Sprint Planning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022592" y="2450592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61616"/>
                </a:solidFill>
              </a:rPr>
              <a:t>Sprint Goal and Ready-for-Sprint PBIs negotiated by capacity.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8979408" y="2331720"/>
            <a:ext cx="201168" cy="384048"/>
          </a:xfrm>
          <a:prstGeom prst="chevron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9144000" y="2057400"/>
            <a:ext cx="402336" cy="402336"/>
          </a:xfrm>
          <a:prstGeom prst="ellipse">
            <a:avLst/>
          </a:prstGeom>
          <a:solidFill>
            <a:srgbClr val="2A1449"/>
          </a:solidFill>
          <a:ln w="12700">
            <a:solidFill>
              <a:srgbClr val="2A1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9144000" y="21396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9692640" y="19202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9857232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A1449"/>
                </a:solidFill>
              </a:rPr>
              <a:t>Delivery &amp; Review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9857232" y="2450592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61616"/>
                </a:solidFill>
              </a:rPr>
              <a:t>Committed work is executed with operational needs considered.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640080" y="38862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F022B"/>
                </a:solidFill>
              </a:rPr>
              <a:t>Cadence safeguards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640080" y="4114800"/>
            <a:ext cx="4023360" cy="0"/>
          </a:xfrm>
          <a:prstGeom prst="line">
            <a:avLst/>
          </a:prstGeom>
          <a:noFill/>
          <a:ln w="1016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640080" y="425196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BF8FF"/>
          </a:solidFill>
          <a:ln w="10160">
            <a:solidFill>
              <a:srgbClr val="E6D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804672" y="4379976"/>
            <a:ext cx="305409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A1449"/>
                </a:solidFill>
              </a:rPr>
              <a:t>Backlog health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804672" y="4736592"/>
            <a:ext cx="3054096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Weekly dedicated refinement sessions continuously maintain a healthy backlog pipeline.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4343400" y="425196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7F4"/>
          </a:solidFill>
          <a:ln w="10160">
            <a:solidFill>
              <a:srgbClr val="F0D4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4507992" y="4379976"/>
            <a:ext cx="305409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A1449"/>
                </a:solidFill>
              </a:rPr>
              <a:t>Fast clarification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4507992" y="4736592"/>
            <a:ext cx="3054096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Scrum Master cancels unused clarification calls to keep the process lean.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8046720" y="42519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9EB"/>
          </a:solidFill>
          <a:ln w="10160">
            <a:solidFill>
              <a:srgbClr val="F1D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8211312" y="4379976"/>
            <a:ext cx="300837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A1449"/>
                </a:solidFill>
              </a:rPr>
              <a:t>Capacity discipline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8211312" y="4736592"/>
            <a:ext cx="3008376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</a:rPr>
              <a:t>Sprint scope is negotiated against real team availability and operations demands.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C0E38B-7BB7-1B92-7D17-A4452C76031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9599" y="403557"/>
            <a:ext cx="10972801" cy="4708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3400" b="0" i="0" kern="1200">
                <a:solidFill>
                  <a:srgbClr val="2A144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</a:t>
            </a:r>
            <a:endParaRPr lang="fr-F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986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8EF69C-D45D-A9C9-FE64-F9E4751559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9599" y="403557"/>
            <a:ext cx="10972801" cy="4708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3400" b="0" i="0" kern="1200">
                <a:solidFill>
                  <a:srgbClr val="2A144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</a:pPr>
            <a:r>
              <a:rPr lang="en-GB"/>
              <a:t>Click to edit master title</a:t>
            </a:r>
            <a:endParaRPr lang="fr-F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610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5e6e129-f928-4a05-ae32-d838f6b21bdd}" enabled="1" method="Standard" siteId="{8b87af7d-8647-4dc7-8df4-5f69a2011bb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530</Words>
  <Application>Microsoft Office PowerPoint</Application>
  <PresentationFormat>Widescreen</PresentationFormat>
  <Paragraphs>73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Tahoma</vt:lpstr>
      <vt:lpstr>Office Theme</vt:lpstr>
      <vt:lpstr>PowerPoint Presentation</vt:lpstr>
      <vt:lpstr>PowerPoint Presentation</vt:lpstr>
      <vt:lpstr>PowerPoint Presentation</vt:lpstr>
      <vt:lpstr>Click to edit master title</vt:lpstr>
      <vt:lpstr>Click to edit master title</vt:lpstr>
    </vt:vector>
  </TitlesOfParts>
  <Company>Sopra Steria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Sopra Steria Sales CRM - Scrum Ways of Working &amp; Quality Gates</dc:title>
  <dc:subject>Sopra Steria Sales CRM Scrum Ways of Working and Quality Gates for TickIT Audit</dc:subject>
  <dc:creator>MAROJU Apparao</dc:creator>
  <cp:lastModifiedBy>MAROJU Apparao</cp:lastModifiedBy>
  <cp:revision>4</cp:revision>
  <dcterms:created xsi:type="dcterms:W3CDTF">2026-07-29T01:57:41Z</dcterms:created>
  <dcterms:modified xsi:type="dcterms:W3CDTF">2026-08-07T14:24:51Z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C2 - Restricted use </vt:lpwstr>
  </property>
</Properties>
</file>