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shift: what changes for manual testers and why. Walk the traditional vs AI-enabled comparison, stress human-in-the-loop, and show the four test-management activities already running with GitHub Copilot prompt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 the story in market momentum and business value. Emphasise the illustrative chart is a placeholder for real pilot metrics, and connect each impact to what manual testers and business stakeholders care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pillars are the technology and domain backbone. Emphasise the foundation strip: none of this works without human review gates, governance guardrails, reusable prompts, and tester upskilling.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maturity journey left to right: NOW (foundation), NEXT (intelligent &amp; adaptive), BEYOND (automated &amp; governed). Anchor on the enablers and the takeaway that testers remain the owners of quality at every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5.png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2880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91440"/>
            <a:ext cx="9326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Context &amp; Functional Testing Shift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B4C7E7"/>
                </a:solidFill>
                <a:latin typeface="Calibri"/>
              </a:rPr>
              <a:t>From manual execution to AI-assisted, context-driven quality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256032"/>
            <a:ext cx="1188720" cy="420624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 /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11338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WHAT IS CHANGING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5212080" cy="2286000"/>
          </a:xfrm>
          <a:prstGeom prst="roundRect">
            <a:avLst>
              <a:gd name="adj" fmla="val 7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404040"/>
                </a:solidFill>
                <a:latin typeface="Calibri"/>
              </a:rPr>
              <a:t>TRADITIONAL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4800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B0B0B0"/>
                </a:solidFill>
                <a:latin typeface="Calibri"/>
              </a:rPr>
              <a:t>✕  </a:t>
            </a:r>
            <a:r>
              <a:rPr sz="950">
                <a:solidFill>
                  <a:srgbClr val="404040"/>
                </a:solidFill>
                <a:latin typeface="Calibri"/>
              </a:rPr>
              <a:t>Manual, scripted execution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B0B0B0"/>
                </a:solidFill>
                <a:latin typeface="Calibri"/>
              </a:rPr>
              <a:t>✕  </a:t>
            </a:r>
            <a:r>
              <a:rPr sz="950">
                <a:solidFill>
                  <a:srgbClr val="404040"/>
                </a:solidFill>
                <a:latin typeface="Calibri"/>
              </a:rPr>
              <a:t>Same steps, repeated run after run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B0B0B0"/>
                </a:solidFill>
                <a:latin typeface="Calibri"/>
              </a:rPr>
              <a:t>✕  </a:t>
            </a:r>
            <a:r>
              <a:rPr sz="950">
                <a:solidFill>
                  <a:srgbClr val="404040"/>
                </a:solidFill>
                <a:latin typeface="Calibri"/>
              </a:rPr>
              <a:t>Reactive: bugs found late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B0B0B0"/>
                </a:solidFill>
                <a:latin typeface="Calibri"/>
              </a:rPr>
              <a:t>✕  </a:t>
            </a:r>
            <a:r>
              <a:rPr sz="950">
                <a:solidFill>
                  <a:srgbClr val="404040"/>
                </a:solidFill>
                <a:latin typeface="Calibri"/>
              </a:rPr>
              <a:t>Siloed test artifacts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B0B0B0"/>
                </a:solidFill>
                <a:latin typeface="Calibri"/>
              </a:rPr>
              <a:t>✕  </a:t>
            </a:r>
            <a:r>
              <a:rPr sz="950">
                <a:solidFill>
                  <a:srgbClr val="404040"/>
                </a:solidFill>
                <a:latin typeface="Calibri"/>
              </a:rPr>
              <a:t>Slow feedback loops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15000" y="2331720"/>
            <a:ext cx="640080" cy="457200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8803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ED7D31"/>
                </a:solidFill>
                <a:latin typeface="Calibri"/>
              </a:rPr>
              <a:t>SHIFT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417320"/>
            <a:ext cx="5257800" cy="2286000"/>
          </a:xfrm>
          <a:prstGeom prst="roundRect">
            <a:avLst>
              <a:gd name="adj" fmla="val 7000"/>
            </a:avLst>
          </a:prstGeom>
          <a:solidFill>
            <a:srgbClr val="ED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55448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E74B5"/>
                </a:solidFill>
                <a:latin typeface="Calibri"/>
              </a:rPr>
              <a:t>AI-ENABLED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874519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548235"/>
                </a:solidFill>
                <a:latin typeface="Calibri"/>
              </a:rPr>
              <a:t>✓  </a:t>
            </a:r>
            <a:r>
              <a:rPr sz="950">
                <a:solidFill>
                  <a:srgbClr val="404040"/>
                </a:solidFill>
                <a:latin typeface="Calibri"/>
              </a:rPr>
              <a:t>Context &amp; prompt-driven test design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548235"/>
                </a:solidFill>
                <a:latin typeface="Calibri"/>
              </a:rPr>
              <a:t>✓  </a:t>
            </a:r>
            <a:r>
              <a:rPr sz="950">
                <a:solidFill>
                  <a:srgbClr val="404040"/>
                </a:solidFill>
                <a:latin typeface="Calibri"/>
              </a:rPr>
              <a:t>AI drafts cases from requirements &amp; acceptance criteria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548235"/>
                </a:solidFill>
                <a:latin typeface="Calibri"/>
              </a:rPr>
              <a:t>✓  </a:t>
            </a:r>
            <a:r>
              <a:rPr sz="950">
                <a:solidFill>
                  <a:srgbClr val="404040"/>
                </a:solidFill>
                <a:latin typeface="Calibri"/>
              </a:rPr>
              <a:t>Proactive: risks identified early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548235"/>
                </a:solidFill>
                <a:latin typeface="Calibri"/>
              </a:rPr>
              <a:t>✓  </a:t>
            </a:r>
            <a:r>
              <a:rPr sz="950">
                <a:solidFill>
                  <a:srgbClr val="404040"/>
                </a:solidFill>
                <a:latin typeface="Calibri"/>
              </a:rPr>
              <a:t>Connected knowledge: requirements, defects, history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1">
                <a:solidFill>
                  <a:srgbClr val="548235"/>
                </a:solidFill>
                <a:latin typeface="Calibri"/>
              </a:rPr>
              <a:t>✓  </a:t>
            </a:r>
            <a:r>
              <a:rPr sz="950">
                <a:solidFill>
                  <a:srgbClr val="404040"/>
                </a:solidFill>
                <a:latin typeface="Calibri"/>
              </a:rPr>
              <a:t>Fast feedback with human-in-the-loop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977639"/>
            <a:ext cx="11384280" cy="5029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Human-in-the-Loop  —  AI drafts and accelerates; testers review, decide, and own quality.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663440"/>
            <a:ext cx="11338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AI APPLIED TO TEST MANAGEMENT TODAY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956048"/>
            <a:ext cx="2651760" cy="868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93208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33272" y="512064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Test Plan Creation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4956048"/>
            <a:ext cx="2651760" cy="868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enc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5093208"/>
            <a:ext cx="384048" cy="384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822191" y="512064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Test Design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4956048"/>
            <a:ext cx="2651760" cy="868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b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5093208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11112" y="512064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Bug Creation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4956048"/>
            <a:ext cx="2651760" cy="868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unn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5093208"/>
            <a:ext cx="384048" cy="3840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400032" y="512064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Bug Triage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5989320"/>
            <a:ext cx="11338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2E74B5"/>
                </a:solidFill>
                <a:latin typeface="Calibri"/>
              </a:rPr>
              <a:t>Example prompt:  “Draft a test plan for the payment module – scope, risks, entry/exit criteria”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2880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91440"/>
            <a:ext cx="9326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Market Trends &amp; Business Impacts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B4C7E7"/>
                </a:solidFill>
                <a:latin typeface="Calibri"/>
              </a:rPr>
              <a:t>The AI-QE market is accelerating — and so is the ROI for early adopters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256032"/>
            <a:ext cx="1188720" cy="420624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 /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MARKET TRENDS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89888"/>
            <a:ext cx="539496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512064" cy="512064"/>
          </a:xfrm>
          <a:prstGeom prst="roundRect">
            <a:avLst>
              <a:gd name="adj" fmla="val 20000"/>
            </a:avLst>
          </a:prstGeom>
          <a:solidFill>
            <a:srgbClr val="ED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329184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7008" y="1490472"/>
            <a:ext cx="4480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AI in software testing market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00" b="0" i="0">
                <a:solidFill>
                  <a:srgbClr val="404040"/>
                </a:solidFill>
                <a:latin typeface="Calibri"/>
              </a:rPr>
              <a:t>Analyst forecasts range $30–$60B by 2032 — double-digit CAGR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414016"/>
            <a:ext cx="539496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532888"/>
            <a:ext cx="512064" cy="512064"/>
          </a:xfrm>
          <a:prstGeom prst="roundRect">
            <a:avLst>
              <a:gd name="adj" fmla="val 20000"/>
            </a:avLst>
          </a:prstGeom>
          <a:solidFill>
            <a:srgbClr val="ED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24328"/>
            <a:ext cx="329184" cy="3291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07008" y="2514600"/>
            <a:ext cx="4480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AI-assisted test management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00" b="0" i="0">
                <a:solidFill>
                  <a:srgbClr val="404040"/>
                </a:solidFill>
                <a:latin typeface="Calibri"/>
              </a:rPr>
              <a:t>Adoption moving from experimentation to mainstream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438144"/>
            <a:ext cx="539496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557016"/>
            <a:ext cx="512064" cy="512064"/>
          </a:xfrm>
          <a:prstGeom prst="roundRect">
            <a:avLst>
              <a:gd name="adj" fmla="val 20000"/>
            </a:avLst>
          </a:prstGeom>
          <a:solidFill>
            <a:srgbClr val="ED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48456"/>
            <a:ext cx="329184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07008" y="3538728"/>
            <a:ext cx="4480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Generative AI in QA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00" b="0" i="0">
                <a:solidFill>
                  <a:srgbClr val="404040"/>
                </a:solidFill>
                <a:latin typeface="Calibri"/>
              </a:rPr>
              <a:t>Copilots &amp; agents shifting from drafting to 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097280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BUSINESS IMPACT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389888"/>
            <a:ext cx="5486400" cy="713232"/>
          </a:xfrm>
          <a:prstGeom prst="roundRect">
            <a:avLst>
              <a:gd name="adj" fmla="val 14000"/>
            </a:avLst>
          </a:prstGeom>
          <a:solidFill>
            <a:srgbClr val="ED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517904"/>
            <a:ext cx="384048" cy="384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03720" y="1463040"/>
            <a:ext cx="47548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Faster time-to-market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404040"/>
                </a:solidFill>
                <a:latin typeface="Calibri"/>
              </a:rPr>
              <a:t>AI-assisted testers deliver up to 2× more test cases per day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231136"/>
            <a:ext cx="5486400" cy="713232"/>
          </a:xfrm>
          <a:prstGeom prst="roundRect">
            <a:avLst>
              <a:gd name="adj" fmla="val 14000"/>
            </a:avLst>
          </a:prstGeom>
          <a:solidFill>
            <a:srgbClr val="ED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359152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03720" y="2304288"/>
            <a:ext cx="47548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Lower cost of quality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404040"/>
                </a:solidFill>
                <a:latin typeface="Calibri"/>
              </a:rPr>
              <a:t>Early defect detection cuts rework and escaped defects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072384"/>
            <a:ext cx="5486400" cy="713232"/>
          </a:xfrm>
          <a:prstGeom prst="roundRect">
            <a:avLst>
              <a:gd name="adj" fmla="val 14000"/>
            </a:avLst>
          </a:prstGeom>
          <a:solidFill>
            <a:srgbClr val="ED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3200400"/>
            <a:ext cx="384048" cy="3840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903720" y="3145536"/>
            <a:ext cx="47548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Scalable quality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404040"/>
                </a:solidFill>
                <a:latin typeface="Calibri"/>
              </a:rPr>
              <a:t>Consistent, reusable AI test assets scale across releases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913632"/>
            <a:ext cx="5486400" cy="713232"/>
          </a:xfrm>
          <a:prstGeom prst="roundRect">
            <a:avLst>
              <a:gd name="adj" fmla="val 14000"/>
            </a:avLst>
          </a:prstGeom>
          <a:solidFill>
            <a:srgbClr val="ED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unne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4041648"/>
            <a:ext cx="384048" cy="3840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903720" y="3986784"/>
            <a:ext cx="47548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Risk-informed decisions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404040"/>
                </a:solidFill>
                <a:latin typeface="Calibri"/>
              </a:rPr>
              <a:t>AI triage &amp; coverage insights steer release decisions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4736592"/>
            <a:ext cx="11384280" cy="144475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8463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PILOT IMPACT  —  ILLUSTRATIVE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84632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404040"/>
                </a:solidFill>
                <a:latin typeface="Calibri"/>
              </a:rPr>
              <a:t>■ Manual      ■ AI-Assisted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148072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404040"/>
                </a:solidFill>
                <a:latin typeface="Calibri"/>
              </a:rPr>
              <a:t>Test cases / day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31720" y="5157216"/>
            <a:ext cx="2194560" cy="137160"/>
          </a:xfrm>
          <a:prstGeom prst="roundRect">
            <a:avLst>
              <a:gd name="adj" fmla="val 50000"/>
            </a:avLst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99431" y="5157216"/>
            <a:ext cx="5120640" cy="137160"/>
          </a:xfrm>
          <a:prstGeom prst="roundRect">
            <a:avLst>
              <a:gd name="adj" fmla="val 5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11511" y="5120640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F3864"/>
                </a:solidFill>
                <a:latin typeface="Calibri"/>
              </a:rPr>
              <a:t>2×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340096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404040"/>
                </a:solidFill>
                <a:latin typeface="Calibri"/>
              </a:rPr>
              <a:t>Bug report time (min)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31720" y="5349240"/>
            <a:ext cx="4572000" cy="137160"/>
          </a:xfrm>
          <a:prstGeom prst="roundRect">
            <a:avLst>
              <a:gd name="adj" fmla="val 50000"/>
            </a:avLst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976872" y="5349240"/>
            <a:ext cx="914399" cy="137160"/>
          </a:xfrm>
          <a:prstGeom prst="roundRect">
            <a:avLst>
              <a:gd name="adj" fmla="val 5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82711" y="5312664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F3864"/>
                </a:solidFill>
                <a:latin typeface="Calibri"/>
              </a:rPr>
              <a:t>5× faster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532120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404040"/>
                </a:solidFill>
                <a:latin typeface="Calibri"/>
              </a:rPr>
              <a:t>Defects triaged / day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31720" y="5541264"/>
            <a:ext cx="1463039" cy="137160"/>
          </a:xfrm>
          <a:prstGeom prst="roundRect">
            <a:avLst>
              <a:gd name="adj" fmla="val 50000"/>
            </a:avLst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867911" y="5541264"/>
            <a:ext cx="3657599" cy="137160"/>
          </a:xfrm>
          <a:prstGeom prst="roundRect">
            <a:avLst>
              <a:gd name="adj" fmla="val 5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16951" y="5504688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F3864"/>
                </a:solidFill>
                <a:latin typeface="Calibri"/>
              </a:rPr>
              <a:t>2.5×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8978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B0B0B0"/>
                </a:solidFill>
                <a:latin typeface="Calibri"/>
              </a:rPr>
              <a:t>Illustrative pilot figures — replace with measured team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2880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91440"/>
            <a:ext cx="9326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Core Technology &amp; Domain Pillars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B4C7E7"/>
                </a:solidFill>
                <a:latin typeface="Calibri"/>
              </a:rPr>
              <a:t>Four pillars that carry our AI-QE journey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256032"/>
            <a:ext cx="1188720" cy="420624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2697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435608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536192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1490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Context &amp; Prompt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057400"/>
            <a:ext cx="229514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950" b="1">
                <a:solidFill>
                  <a:srgbClr val="2E74B5"/>
                </a:solidFill>
                <a:latin typeface="Calibri"/>
              </a:rPr>
              <a:t>▪  </a:t>
            </a:r>
            <a:r>
              <a:rPr sz="950">
                <a:solidFill>
                  <a:srgbClr val="404040"/>
                </a:solidFill>
                <a:latin typeface="Calibri"/>
              </a:rPr>
              <a:t>Purpose-built prompts per test activity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950" b="1">
                <a:solidFill>
                  <a:srgbClr val="2E74B5"/>
                </a:solidFill>
                <a:latin typeface="Calibri"/>
              </a:rPr>
              <a:t>▪  </a:t>
            </a:r>
            <a:r>
              <a:rPr sz="950">
                <a:solidFill>
                  <a:srgbClr val="404040"/>
                </a:solidFill>
                <a:latin typeface="Calibri"/>
              </a:rPr>
              <a:t>Tester domain context drives AI quality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950" b="1">
                <a:solidFill>
                  <a:srgbClr val="2E74B5"/>
                </a:solidFill>
                <a:latin typeface="Calibri"/>
              </a:rPr>
              <a:t>▪  </a:t>
            </a:r>
            <a:r>
              <a:rPr sz="950">
                <a:solidFill>
                  <a:srgbClr val="404040"/>
                </a:solidFill>
                <a:latin typeface="Calibri"/>
              </a:rPr>
              <a:t>Reusable prompt &amp; template library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325880"/>
            <a:ext cx="2697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1435608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536192"/>
            <a:ext cx="256032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794759" y="1490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RAG &amp; Knowledge Grounding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057400"/>
            <a:ext cx="229514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950" b="1">
                <a:solidFill>
                  <a:srgbClr val="ED7D31"/>
                </a:solidFill>
                <a:latin typeface="Calibri"/>
              </a:rPr>
              <a:t>▪  </a:t>
            </a:r>
            <a:r>
              <a:rPr sz="950">
                <a:solidFill>
                  <a:srgbClr val="404040"/>
                </a:solidFill>
                <a:latin typeface="Calibri"/>
              </a:rPr>
              <a:t>Retrieval over requirements, defects, history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950" b="1">
                <a:solidFill>
                  <a:srgbClr val="ED7D31"/>
                </a:solidFill>
                <a:latin typeface="Calibri"/>
              </a:rPr>
              <a:t>▪  </a:t>
            </a:r>
            <a:r>
              <a:rPr sz="950">
                <a:solidFill>
                  <a:srgbClr val="404040"/>
                </a:solidFill>
                <a:latin typeface="Calibri"/>
              </a:rPr>
              <a:t>Regression test-case identification via RAG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950" b="1">
                <a:solidFill>
                  <a:srgbClr val="ED7D31"/>
                </a:solidFill>
                <a:latin typeface="Calibri"/>
              </a:rPr>
              <a:t>▪  </a:t>
            </a:r>
            <a:r>
              <a:rPr sz="950">
                <a:solidFill>
                  <a:srgbClr val="404040"/>
                </a:solidFill>
                <a:latin typeface="Calibri"/>
              </a:rPr>
              <a:t>Model-grounded, evidence-linked suites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325880"/>
            <a:ext cx="2697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1435608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536192"/>
            <a:ext cx="256032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29400" y="1490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Testing AI Applications &amp;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2057400"/>
            <a:ext cx="229514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950" b="1">
                <a:solidFill>
                  <a:srgbClr val="548235"/>
                </a:solidFill>
                <a:latin typeface="Calibri"/>
              </a:rPr>
              <a:t>▪  </a:t>
            </a:r>
            <a:r>
              <a:rPr sz="950">
                <a:solidFill>
                  <a:srgbClr val="404040"/>
                </a:solidFill>
                <a:latin typeface="Calibri"/>
              </a:rPr>
              <a:t>Quality engineering for AI products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950" b="1">
                <a:solidFill>
                  <a:srgbClr val="548235"/>
                </a:solidFill>
                <a:latin typeface="Calibri"/>
              </a:rPr>
              <a:t>▪  </a:t>
            </a:r>
            <a:r>
              <a:rPr sz="950">
                <a:solidFill>
                  <a:srgbClr val="404040"/>
                </a:solidFill>
                <a:latin typeface="Calibri"/>
              </a:rPr>
              <a:t>Prompt, model &amp; agent test strategies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950" b="1">
                <a:solidFill>
                  <a:srgbClr val="548235"/>
                </a:solidFill>
                <a:latin typeface="Calibri"/>
              </a:rPr>
              <a:t>▪  </a:t>
            </a:r>
            <a:r>
              <a:rPr sz="950">
                <a:solidFill>
                  <a:srgbClr val="404040"/>
                </a:solidFill>
                <a:latin typeface="Calibri"/>
              </a:rPr>
              <a:t>Evaluation, guardrails &amp; bias checks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1325880"/>
            <a:ext cx="2697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06840" y="1435608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6568" y="1536192"/>
            <a:ext cx="256032" cy="2560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464040" y="1490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AI DevOps &amp;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2057400"/>
            <a:ext cx="229514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950" b="1">
                <a:solidFill>
                  <a:srgbClr val="1F3864"/>
                </a:solidFill>
                <a:latin typeface="Calibri"/>
              </a:rPr>
              <a:t>▪  </a:t>
            </a:r>
            <a:r>
              <a:rPr sz="950">
                <a:solidFill>
                  <a:srgbClr val="404040"/>
                </a:solidFill>
                <a:latin typeface="Calibri"/>
              </a:rPr>
              <a:t>Self-healing pipelines, continuous QE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950" b="1">
                <a:solidFill>
                  <a:srgbClr val="1F3864"/>
                </a:solidFill>
                <a:latin typeface="Calibri"/>
              </a:rPr>
              <a:t>▪  </a:t>
            </a:r>
            <a:r>
              <a:rPr sz="950">
                <a:solidFill>
                  <a:srgbClr val="404040"/>
                </a:solidFill>
                <a:latin typeface="Calibri"/>
              </a:rPr>
              <a:t>Policy, risk, privacy &amp; compliance guardrails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950" b="1">
                <a:solidFill>
                  <a:srgbClr val="1F3864"/>
                </a:solidFill>
                <a:latin typeface="Calibri"/>
              </a:rPr>
              <a:t>▪  </a:t>
            </a:r>
            <a:r>
              <a:rPr sz="950">
                <a:solidFill>
                  <a:srgbClr val="404040"/>
                </a:solidFill>
                <a:latin typeface="Calibri"/>
              </a:rPr>
              <a:t>Explainable, auditable quality decisions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709160"/>
            <a:ext cx="11384280" cy="77724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boo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864608"/>
            <a:ext cx="457200" cy="457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80160" y="480060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FOUNDATION —  Everything we build 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Calibri"/>
              </a:rPr>
              <a:t>Human-in-the-loop review gates  ·  AI policy &amp; guardrails  ·  Versioned prompt &amp; template library  ·  Tester upskilling &amp; AI literacy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2880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91440"/>
            <a:ext cx="9326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Strategic Path Ahead &amp; Roadmap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B4C7E7"/>
                </a:solidFill>
                <a:latin typeface="Calibri"/>
              </a:rPr>
              <a:t>From assisted test management to intelligent, governed quality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256032"/>
            <a:ext cx="1188720" cy="420624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356616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481328"/>
            <a:ext cx="3383279" cy="566928"/>
          </a:xfrm>
          <a:prstGeom prst="roundRect">
            <a:avLst>
              <a:gd name="adj" fmla="val 18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554480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PHASE 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NOW —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212848"/>
            <a:ext cx="316382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00" b="1">
                <a:solidFill>
                  <a:srgbClr val="2E74B5"/>
                </a:solidFill>
                <a:latin typeface="Calibri"/>
              </a:rPr>
              <a:t>▪  </a:t>
            </a:r>
            <a:r>
              <a:rPr sz="900">
                <a:solidFill>
                  <a:srgbClr val="404040"/>
                </a:solidFill>
                <a:latin typeface="Calibri"/>
              </a:rPr>
              <a:t>Prompt &amp; context engineering with Copilot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00" b="1">
                <a:solidFill>
                  <a:srgbClr val="2E74B5"/>
                </a:solidFill>
                <a:latin typeface="Calibri"/>
              </a:rPr>
              <a:t>▪  </a:t>
            </a:r>
            <a:r>
              <a:rPr sz="900">
                <a:solidFill>
                  <a:srgbClr val="404040"/>
                </a:solidFill>
                <a:latin typeface="Calibri"/>
              </a:rPr>
              <a:t>Test plans • test design • bug creation • triage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00" b="1">
                <a:solidFill>
                  <a:srgbClr val="2E74B5"/>
                </a:solidFill>
                <a:latin typeface="Calibri"/>
              </a:rPr>
              <a:t>▪  </a:t>
            </a:r>
            <a:r>
              <a:rPr sz="900">
                <a:solidFill>
                  <a:srgbClr val="404040"/>
                </a:solidFill>
                <a:latin typeface="Calibri"/>
              </a:rPr>
              <a:t>Human-in-the-loop: AI drafts, testers decide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977639"/>
            <a:ext cx="31638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2E74B5"/>
                </a:solidFill>
                <a:latin typeface="Calibri"/>
              </a:rPr>
              <a:t>▸  Faster, consistent test assets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23359" y="2743200"/>
            <a:ext cx="228600" cy="292608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356616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481328"/>
            <a:ext cx="3383279" cy="566928"/>
          </a:xfrm>
          <a:prstGeom prst="roundRect">
            <a:avLst>
              <a:gd name="adj" fmla="val 1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554480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PHASE 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NEXT — Intelligent &amp; Adaptive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212848"/>
            <a:ext cx="316382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00" b="1">
                <a:solidFill>
                  <a:srgbClr val="ED7D31"/>
                </a:solidFill>
                <a:latin typeface="Calibri"/>
              </a:rPr>
              <a:t>▪  </a:t>
            </a:r>
            <a:r>
              <a:rPr sz="900">
                <a:solidFill>
                  <a:srgbClr val="404040"/>
                </a:solidFill>
                <a:latin typeface="Calibri"/>
              </a:rPr>
              <a:t>RAG-based regression test-case identification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00" b="1">
                <a:solidFill>
                  <a:srgbClr val="ED7D31"/>
                </a:solidFill>
                <a:latin typeface="Calibri"/>
              </a:rPr>
              <a:t>▪  </a:t>
            </a:r>
            <a:r>
              <a:rPr sz="900">
                <a:solidFill>
                  <a:srgbClr val="404040"/>
                </a:solidFill>
                <a:latin typeface="Calibri"/>
              </a:rPr>
              <a:t>Retrieval over requirements, defects &amp; history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00" b="1">
                <a:solidFill>
                  <a:srgbClr val="ED7D31"/>
                </a:solidFill>
                <a:latin typeface="Calibri"/>
              </a:rPr>
              <a:t>▪  </a:t>
            </a:r>
            <a:r>
              <a:rPr sz="900">
                <a:solidFill>
                  <a:srgbClr val="404040"/>
                </a:solidFill>
                <a:latin typeface="Calibri"/>
              </a:rPr>
              <a:t>Testing AI applications and AI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977639"/>
            <a:ext cx="31638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D7D31"/>
                </a:solidFill>
                <a:latin typeface="Calibri"/>
              </a:rPr>
              <a:t>▸  Requirement-linked, model-grounded suites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909560" y="2743200"/>
            <a:ext cx="228600" cy="292608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83879" y="1371600"/>
            <a:ext cx="356616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75319" y="1481328"/>
            <a:ext cx="3383279" cy="566928"/>
          </a:xfrm>
          <a:prstGeom prst="roundRect">
            <a:avLst>
              <a:gd name="adj" fmla="val 18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1554480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PHASE 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BEYOND — Automated &amp; Governed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2212848"/>
            <a:ext cx="316382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00" b="1">
                <a:solidFill>
                  <a:srgbClr val="548235"/>
                </a:solidFill>
                <a:latin typeface="Calibri"/>
              </a:rPr>
              <a:t>▪  </a:t>
            </a:r>
            <a:r>
              <a:rPr sz="900">
                <a:solidFill>
                  <a:srgbClr val="404040"/>
                </a:solidFill>
                <a:latin typeface="Calibri"/>
              </a:rPr>
              <a:t>AI DevOps — self-healing pipelines, continuous QE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00" b="1">
                <a:solidFill>
                  <a:srgbClr val="548235"/>
                </a:solidFill>
                <a:latin typeface="Calibri"/>
              </a:rPr>
              <a:t>▪  </a:t>
            </a:r>
            <a:r>
              <a:rPr sz="900">
                <a:solidFill>
                  <a:srgbClr val="404040"/>
                </a:solidFill>
                <a:latin typeface="Calibri"/>
              </a:rPr>
              <a:t>AI Governance — policy, risk, privacy, compliance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00" b="1">
                <a:solidFill>
                  <a:srgbClr val="548235"/>
                </a:solidFill>
                <a:latin typeface="Calibri"/>
              </a:rPr>
              <a:t>▪  </a:t>
            </a:r>
            <a:r>
              <a:rPr sz="900">
                <a:solidFill>
                  <a:srgbClr val="404040"/>
                </a:solidFill>
                <a:latin typeface="Calibri"/>
              </a:rPr>
              <a:t>Explainable, auditable quality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3977639"/>
            <a:ext cx="31638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548235"/>
                </a:solidFill>
                <a:latin typeface="Calibri"/>
              </a:rPr>
              <a:t>▸  Trust, transparency &amp; enterprise readiness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754880"/>
            <a:ext cx="11384280" cy="77724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g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910328"/>
            <a:ext cx="457200" cy="4572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80160" y="48463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KEY ENABLERS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Calibri"/>
              </a:rPr>
              <a:t>Prompt &amp; Template Library  ·  RAG Knowledge Base  ·  Human-in-the-Loop Review Gates  ·  AI Governance &amp; Guardrails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5760720"/>
            <a:ext cx="11384280" cy="50292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760720"/>
            <a:ext cx="11384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AI drafts, accelerates and scales — testers review, decide, and own quality.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AI-Enabled Quality Engineering — Strategic Deck</dc:title>
  <dc:subject/>
  <dc:creator>QE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