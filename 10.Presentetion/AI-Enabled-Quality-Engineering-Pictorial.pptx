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o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01168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" y="91440"/>
            <a:ext cx="9326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AI-Enabled Quality Engineering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B4C7E7"/>
                </a:solidFill>
                <a:latin typeface="Calibri"/>
              </a:rPr>
              <a:t>How we work and plan with AI on test management — prompt-driven today, intelligent &amp; governed next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69880" y="256032"/>
            <a:ext cx="1298448" cy="420624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AI • QE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05840"/>
            <a:ext cx="7223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74B5"/>
                </a:solidFill>
                <a:latin typeface="Calibri"/>
              </a:rPr>
              <a:t>HOW WE WORK TODAY  —  CONTEXT ENGINEERING + COPILOT IN THE LOOP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" y="1261872"/>
            <a:ext cx="1627632" cy="786384"/>
          </a:xfrm>
          <a:prstGeom prst="roundRect">
            <a:avLst>
              <a:gd name="adj" fmla="val 18000"/>
            </a:avLst>
          </a:prstGeom>
          <a:solidFill>
            <a:srgbClr val="EDF4FB"/>
          </a:solidFill>
          <a:ln w="1397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344168"/>
            <a:ext cx="310896" cy="3108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02336" y="1664208"/>
            <a:ext cx="15361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1F3864"/>
                </a:solidFill>
                <a:latin typeface="Calibri"/>
              </a:rPr>
              <a:t>Manual Testers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404040"/>
                </a:solidFill>
                <a:latin typeface="Calibri"/>
              </a:rPr>
              <a:t>Domain expertise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002536" y="1572768"/>
            <a:ext cx="146304" cy="164592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58568" y="1261872"/>
            <a:ext cx="1627632" cy="786384"/>
          </a:xfrm>
          <a:prstGeom prst="roundRect">
            <a:avLst>
              <a:gd name="adj" fmla="val 18000"/>
            </a:avLst>
          </a:prstGeom>
          <a:solidFill>
            <a:srgbClr val="EDF4FB"/>
          </a:solidFill>
          <a:ln w="1397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6936" y="1344168"/>
            <a:ext cx="310896" cy="3108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304288" y="1664208"/>
            <a:ext cx="15361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1F3864"/>
                </a:solidFill>
                <a:latin typeface="Calibri"/>
              </a:rPr>
              <a:t>Context Engineering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404040"/>
                </a:solidFill>
                <a:latin typeface="Calibri"/>
              </a:rPr>
              <a:t>Purpose-built prompts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904488" y="1572768"/>
            <a:ext cx="146304" cy="164592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60520" y="1261872"/>
            <a:ext cx="1627632" cy="786384"/>
          </a:xfrm>
          <a:prstGeom prst="roundRect">
            <a:avLst>
              <a:gd name="adj" fmla="val 18000"/>
            </a:avLst>
          </a:prstGeom>
          <a:solidFill>
            <a:srgbClr val="EDF4FB"/>
          </a:solidFill>
          <a:ln w="1397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rob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1344168"/>
            <a:ext cx="310896" cy="3108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206240" y="1664208"/>
            <a:ext cx="15361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1F3864"/>
                </a:solidFill>
                <a:latin typeface="Calibri"/>
              </a:rPr>
              <a:t>GitHub Copilot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404040"/>
                </a:solidFill>
                <a:latin typeface="Calibri"/>
              </a:rPr>
              <a:t>AI drafting &amp; analysis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806440" y="1572768"/>
            <a:ext cx="146304" cy="164592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62472" y="1261872"/>
            <a:ext cx="1627632" cy="786384"/>
          </a:xfrm>
          <a:prstGeom prst="roundRect">
            <a:avLst>
              <a:gd name="adj" fmla="val 18000"/>
            </a:avLst>
          </a:prstGeom>
          <a:solidFill>
            <a:srgbClr val="EDF4FB"/>
          </a:solidFill>
          <a:ln w="1397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do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1344168"/>
            <a:ext cx="310896" cy="31089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108192" y="1664208"/>
            <a:ext cx="15361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1F3864"/>
                </a:solidFill>
                <a:latin typeface="Calibri"/>
              </a:rPr>
              <a:t>Test Artifacts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404040"/>
                </a:solidFill>
                <a:latin typeface="Calibri"/>
              </a:rPr>
              <a:t>Plan • Cases • Bugs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2231136"/>
            <a:ext cx="3497580" cy="15179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57784" y="2377440"/>
            <a:ext cx="658368" cy="658368"/>
          </a:xfrm>
          <a:prstGeom prst="roundRect">
            <a:avLst>
              <a:gd name="adj" fmla="val 20000"/>
            </a:avLst>
          </a:prstGeom>
          <a:solidFill>
            <a:srgbClr val="ED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lip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2478024"/>
            <a:ext cx="457200" cy="457200"/>
          </a:xfrm>
          <a:prstGeom prst="rect">
            <a:avLst/>
          </a:prstGeom>
        </p:spPr>
      </p:pic>
      <p:sp>
        <p:nvSpPr>
          <p:cNvPr id="26" name="Oval 25"/>
          <p:cNvSpPr/>
          <p:nvPr/>
        </p:nvSpPr>
        <p:spPr>
          <a:xfrm>
            <a:off x="960120" y="2340864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2377440"/>
            <a:ext cx="2400300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Calibri"/>
              </a:rPr>
              <a:t>Test Plan Creation</a:t>
            </a:r>
          </a:p>
          <a:p>
            <a:pPr algn="l">
              <a:lnSpc>
                <a:spcPct val="104000"/>
              </a:lnSpc>
              <a:spcAft>
                <a:spcPts val="300"/>
              </a:spcAft>
            </a:pPr>
            <a:r>
              <a:rPr sz="900" b="0" i="0">
                <a:solidFill>
                  <a:srgbClr val="404040"/>
                </a:solidFill>
                <a:latin typeface="Calibri"/>
              </a:rPr>
              <a:t>Prompt-driven scope, strategy, risk &amp; exit criteria — testers validate.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800" b="0" i="1">
                <a:solidFill>
                  <a:srgbClr val="2E74B5"/>
                </a:solidFill>
                <a:latin typeface="Calibri"/>
              </a:rPr>
              <a:t>“Draft a test plan for the payment module – scope, risks, criteria.”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37660" y="2231136"/>
            <a:ext cx="3497580" cy="15179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283964" y="2377440"/>
            <a:ext cx="658368" cy="658368"/>
          </a:xfrm>
          <a:prstGeom prst="roundRect">
            <a:avLst>
              <a:gd name="adj" fmla="val 20000"/>
            </a:avLst>
          </a:prstGeom>
          <a:solidFill>
            <a:srgbClr val="ED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penci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4548" y="2478024"/>
            <a:ext cx="457200" cy="457200"/>
          </a:xfrm>
          <a:prstGeom prst="rect">
            <a:avLst/>
          </a:prstGeom>
        </p:spPr>
      </p:pic>
      <p:sp>
        <p:nvSpPr>
          <p:cNvPr id="31" name="Oval 30"/>
          <p:cNvSpPr/>
          <p:nvPr/>
        </p:nvSpPr>
        <p:spPr>
          <a:xfrm>
            <a:off x="4686300" y="2340864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0348" y="2377440"/>
            <a:ext cx="2400300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Calibri"/>
              </a:rPr>
              <a:t>Test Design</a:t>
            </a:r>
          </a:p>
          <a:p>
            <a:pPr algn="l">
              <a:lnSpc>
                <a:spcPct val="104000"/>
              </a:lnSpc>
              <a:spcAft>
                <a:spcPts val="300"/>
              </a:spcAft>
            </a:pPr>
            <a:r>
              <a:rPr sz="900" b="0" i="0">
                <a:solidFill>
                  <a:srgbClr val="404040"/>
                </a:solidFill>
                <a:latin typeface="Calibri"/>
              </a:rPr>
              <a:t>Cases, scenarios &amp; test data from requirements &amp; acceptance criteria.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800" b="0" i="1">
                <a:solidFill>
                  <a:srgbClr val="2E74B5"/>
                </a:solidFill>
                <a:latin typeface="Calibri"/>
              </a:rPr>
              <a:t>“Generate positive, negative &amp; boundary test cases for this story.”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" y="3840480"/>
            <a:ext cx="3497580" cy="15179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57784" y="3986784"/>
            <a:ext cx="658368" cy="658368"/>
          </a:xfrm>
          <a:prstGeom prst="roundRect">
            <a:avLst>
              <a:gd name="adj" fmla="val 20000"/>
            </a:avLst>
          </a:prstGeom>
          <a:solidFill>
            <a:srgbClr val="ED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bu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" y="4087368"/>
            <a:ext cx="457200" cy="457200"/>
          </a:xfrm>
          <a:prstGeom prst="rect">
            <a:avLst/>
          </a:prstGeom>
        </p:spPr>
      </p:pic>
      <p:sp>
        <p:nvSpPr>
          <p:cNvPr id="36" name="Oval 35"/>
          <p:cNvSpPr/>
          <p:nvPr/>
        </p:nvSpPr>
        <p:spPr>
          <a:xfrm>
            <a:off x="960120" y="3950208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44168" y="3986784"/>
            <a:ext cx="2400300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Calibri"/>
              </a:rPr>
              <a:t>Bug Creation</a:t>
            </a:r>
          </a:p>
          <a:p>
            <a:pPr algn="l">
              <a:lnSpc>
                <a:spcPct val="104000"/>
              </a:lnSpc>
              <a:spcAft>
                <a:spcPts val="300"/>
              </a:spcAft>
            </a:pPr>
            <a:r>
              <a:rPr sz="900" b="0" i="0">
                <a:solidFill>
                  <a:srgbClr val="404040"/>
                </a:solidFill>
                <a:latin typeface="Calibri"/>
              </a:rPr>
              <a:t>Evidence-backed bug reports with repro steps, severity &amp; impact.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800" b="0" i="1">
                <a:solidFill>
                  <a:srgbClr val="2E74B5"/>
                </a:solidFill>
                <a:latin typeface="Calibri"/>
              </a:rPr>
              <a:t>“Turn this failure log into a structured bug report.”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37660" y="3840480"/>
            <a:ext cx="3497580" cy="15179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283964" y="3986784"/>
            <a:ext cx="658368" cy="658368"/>
          </a:xfrm>
          <a:prstGeom prst="roundRect">
            <a:avLst>
              <a:gd name="adj" fmla="val 20000"/>
            </a:avLst>
          </a:prstGeom>
          <a:solidFill>
            <a:srgbClr val="ED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funne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84548" y="4087368"/>
            <a:ext cx="457200" cy="457200"/>
          </a:xfrm>
          <a:prstGeom prst="rect">
            <a:avLst/>
          </a:prstGeom>
        </p:spPr>
      </p:pic>
      <p:sp>
        <p:nvSpPr>
          <p:cNvPr id="41" name="Oval 40"/>
          <p:cNvSpPr/>
          <p:nvPr/>
        </p:nvSpPr>
        <p:spPr>
          <a:xfrm>
            <a:off x="4686300" y="3950208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70348" y="3986784"/>
            <a:ext cx="2400300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Calibri"/>
              </a:rPr>
              <a:t>Bug Triage</a:t>
            </a:r>
          </a:p>
          <a:p>
            <a:pPr algn="l">
              <a:lnSpc>
                <a:spcPct val="104000"/>
              </a:lnSpc>
              <a:spcAft>
                <a:spcPts val="300"/>
              </a:spcAft>
            </a:pPr>
            <a:r>
              <a:rPr sz="900" b="0" i="0">
                <a:solidFill>
                  <a:srgbClr val="404040"/>
                </a:solidFill>
                <a:latin typeface="Calibri"/>
              </a:rPr>
              <a:t>AI summaries, grouping &amp; duplicate detection accelerate triage.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800" b="0" i="1">
                <a:solidFill>
                  <a:srgbClr val="2E74B5"/>
                </a:solidFill>
                <a:latin typeface="Calibri"/>
              </a:rPr>
              <a:t>“Summarize &amp; group today’s defects by module and severity.”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18120" y="1005840"/>
            <a:ext cx="39776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74B5"/>
                </a:solidFill>
                <a:latin typeface="Calibri"/>
              </a:rPr>
              <a:t>OUR ROADMAP  —  TO INTELLIGENT, GOVERNED QE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818120" y="1261872"/>
            <a:ext cx="3977639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891272" y="1335024"/>
            <a:ext cx="3831335" cy="365760"/>
          </a:xfrm>
          <a:prstGeom prst="roundRect">
            <a:avLst>
              <a:gd name="adj" fmla="val 20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book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0" y="1399031"/>
            <a:ext cx="237744" cy="237744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311896" y="1385316"/>
            <a:ext cx="33375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PHASE 1 — NOW  ·  FOUNDATION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19288" y="1773936"/>
            <a:ext cx="359359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2E74B5"/>
                </a:solidFill>
                <a:latin typeface="Calibri"/>
              </a:rPr>
              <a:t>▪  </a:t>
            </a:r>
            <a:r>
              <a:rPr sz="850">
                <a:solidFill>
                  <a:srgbClr val="404040"/>
                </a:solidFill>
                <a:latin typeface="Calibri"/>
              </a:rPr>
              <a:t>Prompt &amp; context engineering with Copilot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2E74B5"/>
                </a:solidFill>
                <a:latin typeface="Calibri"/>
              </a:rPr>
              <a:t>▪  </a:t>
            </a:r>
            <a:r>
              <a:rPr sz="850">
                <a:solidFill>
                  <a:srgbClr val="404040"/>
                </a:solidFill>
                <a:latin typeface="Calibri"/>
              </a:rPr>
              <a:t>Test plans • test design • bug creation • triage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2E74B5"/>
                </a:solidFill>
                <a:latin typeface="Calibri"/>
              </a:rPr>
              <a:t>▪  </a:t>
            </a:r>
            <a:r>
              <a:rPr sz="850">
                <a:solidFill>
                  <a:srgbClr val="404040"/>
                </a:solidFill>
                <a:latin typeface="Calibri"/>
              </a:rPr>
              <a:t>Human-in-the-loop: AI drafts, testers decide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19288" y="2395728"/>
            <a:ext cx="3593591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2E74B5"/>
                </a:solidFill>
                <a:latin typeface="Calibri"/>
              </a:rPr>
              <a:t>▸  Faster, consistent test assets</a:t>
            </a:r>
          </a:p>
        </p:txBody>
      </p:sp>
      <p:sp>
        <p:nvSpPr>
          <p:cNvPr id="50" name="Down Arrow 49"/>
          <p:cNvSpPr/>
          <p:nvPr/>
        </p:nvSpPr>
        <p:spPr>
          <a:xfrm>
            <a:off x="9742932" y="2569463"/>
            <a:ext cx="128016" cy="109728"/>
          </a:xfrm>
          <a:prstGeom prst="downArrow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818120" y="2679191"/>
            <a:ext cx="3977639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891272" y="2752344"/>
            <a:ext cx="3831335" cy="365760"/>
          </a:xfrm>
          <a:prstGeom prst="roundRect">
            <a:avLst>
              <a:gd name="adj" fmla="val 2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magnifie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1000" y="2816351"/>
            <a:ext cx="237744" cy="237744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311896" y="2802635"/>
            <a:ext cx="33375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PHASE 2 — NEXT  ·  INTELLIGENT &amp; ADAPTIVE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19288" y="3191256"/>
            <a:ext cx="359359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ED7D31"/>
                </a:solidFill>
                <a:latin typeface="Calibri"/>
              </a:rPr>
              <a:t>▪  </a:t>
            </a:r>
            <a:r>
              <a:rPr sz="850">
                <a:solidFill>
                  <a:srgbClr val="404040"/>
                </a:solidFill>
                <a:latin typeface="Calibri"/>
              </a:rPr>
              <a:t>RAG-based regression test-case identification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ED7D31"/>
                </a:solidFill>
                <a:latin typeface="Calibri"/>
              </a:rPr>
              <a:t>▪  </a:t>
            </a:r>
            <a:r>
              <a:rPr sz="850">
                <a:solidFill>
                  <a:srgbClr val="404040"/>
                </a:solidFill>
                <a:latin typeface="Calibri"/>
              </a:rPr>
              <a:t>Retrieval over requirements, defects &amp; history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ED7D31"/>
                </a:solidFill>
                <a:latin typeface="Calibri"/>
              </a:rPr>
              <a:t>▪  </a:t>
            </a:r>
            <a:r>
              <a:rPr sz="850">
                <a:solidFill>
                  <a:srgbClr val="404040"/>
                </a:solidFill>
                <a:latin typeface="Calibri"/>
              </a:rPr>
              <a:t>Testing AI applications and AI agents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19288" y="3813048"/>
            <a:ext cx="3593591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ED7D31"/>
                </a:solidFill>
                <a:latin typeface="Calibri"/>
              </a:rPr>
              <a:t>▸  Requirement-linked, model-grounded suites</a:t>
            </a:r>
          </a:p>
        </p:txBody>
      </p:sp>
      <p:sp>
        <p:nvSpPr>
          <p:cNvPr id="57" name="Down Arrow 56"/>
          <p:cNvSpPr/>
          <p:nvPr/>
        </p:nvSpPr>
        <p:spPr>
          <a:xfrm>
            <a:off x="9742932" y="3986783"/>
            <a:ext cx="128016" cy="109728"/>
          </a:xfrm>
          <a:prstGeom prst="downArrow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7818120" y="4096511"/>
            <a:ext cx="3977639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7891272" y="4169663"/>
            <a:ext cx="3831335" cy="365760"/>
          </a:xfrm>
          <a:prstGeom prst="roundRect">
            <a:avLst>
              <a:gd name="adj" fmla="val 20000"/>
            </a:avLst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shiel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01000" y="4233672"/>
            <a:ext cx="237744" cy="237744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8311896" y="4219955"/>
            <a:ext cx="33375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PHASE 3 — BEYOND  ·  AUTOMATED &amp; GOVERNED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19288" y="4608575"/>
            <a:ext cx="359359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548235"/>
                </a:solidFill>
                <a:latin typeface="Calibri"/>
              </a:rPr>
              <a:t>▪  </a:t>
            </a:r>
            <a:r>
              <a:rPr sz="850">
                <a:solidFill>
                  <a:srgbClr val="404040"/>
                </a:solidFill>
                <a:latin typeface="Calibri"/>
              </a:rPr>
              <a:t>AI DevOps — self-healing pipelines, continuous QE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548235"/>
                </a:solidFill>
                <a:latin typeface="Calibri"/>
              </a:rPr>
              <a:t>▪  </a:t>
            </a:r>
            <a:r>
              <a:rPr sz="850">
                <a:solidFill>
                  <a:srgbClr val="404040"/>
                </a:solidFill>
                <a:latin typeface="Calibri"/>
              </a:rPr>
              <a:t>AI Governance — policy, risk, privacy, compliance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548235"/>
                </a:solidFill>
                <a:latin typeface="Calibri"/>
              </a:rPr>
              <a:t>▪  </a:t>
            </a:r>
            <a:r>
              <a:rPr sz="850">
                <a:solidFill>
                  <a:srgbClr val="404040"/>
                </a:solidFill>
                <a:latin typeface="Calibri"/>
              </a:rPr>
              <a:t>Explainable, auditable quality decisions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19288" y="5230368"/>
            <a:ext cx="3593591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548235"/>
                </a:solidFill>
                <a:latin typeface="Calibri"/>
              </a:rPr>
              <a:t>▸  Trust, transparency &amp; enterprise readiness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11480" y="5468112"/>
            <a:ext cx="11365992" cy="768096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4360" y="5522976"/>
            <a:ext cx="5486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1F3864"/>
                </a:solidFill>
                <a:latin typeface="Calibri"/>
              </a:rPr>
              <a:t>PILOT IMPACT  —  ILLUSTRATIVE  |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29000" y="5522976"/>
            <a:ext cx="23774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404040"/>
                </a:solidFill>
                <a:latin typeface="Calibri"/>
              </a:rPr>
              <a:t>■ Manual      ■ AI-Assisted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4360" y="5733288"/>
            <a:ext cx="169164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404040"/>
                </a:solidFill>
                <a:latin typeface="Calibri"/>
              </a:rPr>
              <a:t>Test cases / day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286000" y="5742432"/>
            <a:ext cx="1293222" cy="118872"/>
          </a:xfrm>
          <a:prstGeom prst="roundRect">
            <a:avLst>
              <a:gd name="adj" fmla="val 50000"/>
            </a:avLst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634086" y="5742432"/>
            <a:ext cx="3017520" cy="118872"/>
          </a:xfrm>
          <a:prstGeom prst="roundRect">
            <a:avLst>
              <a:gd name="adj" fmla="val 50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724758" y="5705856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1F3864"/>
                </a:solidFill>
                <a:latin typeface="Calibri"/>
              </a:rPr>
              <a:t>2×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94360" y="5902452"/>
            <a:ext cx="169164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404040"/>
                </a:solidFill>
                <a:latin typeface="Calibri"/>
              </a:rPr>
              <a:t>Bug report time (min)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2286000" y="5911596"/>
            <a:ext cx="2694214" cy="118872"/>
          </a:xfrm>
          <a:prstGeom prst="roundRect">
            <a:avLst>
              <a:gd name="adj" fmla="val 50000"/>
            </a:avLst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5035078" y="5911596"/>
            <a:ext cx="538842" cy="118872"/>
          </a:xfrm>
          <a:prstGeom prst="roundRect">
            <a:avLst>
              <a:gd name="adj" fmla="val 50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647073" y="5875020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1F3864"/>
                </a:solidFill>
                <a:latin typeface="Calibri"/>
              </a:rPr>
              <a:t>5× faster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94360" y="6071616"/>
            <a:ext cx="169164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404040"/>
                </a:solidFill>
                <a:latin typeface="Calibri"/>
              </a:rPr>
              <a:t>Defects triaged / day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286000" y="6080759"/>
            <a:ext cx="862148" cy="118872"/>
          </a:xfrm>
          <a:prstGeom prst="roundRect">
            <a:avLst>
              <a:gd name="adj" fmla="val 50000"/>
            </a:avLst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203012" y="6080759"/>
            <a:ext cx="2155371" cy="118872"/>
          </a:xfrm>
          <a:prstGeom prst="roundRect">
            <a:avLst>
              <a:gd name="adj" fmla="val 50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431536" y="6044184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1F3864"/>
                </a:solidFill>
                <a:latin typeface="Calibri"/>
              </a:rPr>
              <a:t>2.5×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78040" y="5522976"/>
            <a:ext cx="4846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1F3864"/>
                </a:solidFill>
                <a:latin typeface="Calibri"/>
              </a:rPr>
              <a:t>KEY ENABLERS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178040" y="5724144"/>
            <a:ext cx="2350008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book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2903" y="5756148"/>
            <a:ext cx="155448" cy="155448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7434071" y="5756148"/>
            <a:ext cx="20391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1F3864"/>
                </a:solidFill>
                <a:latin typeface="Calibri"/>
              </a:rPr>
              <a:t>Prompt &amp; Template Library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674352" y="5724144"/>
            <a:ext cx="2350008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db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29216" y="5756148"/>
            <a:ext cx="155448" cy="155448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9930384" y="5756148"/>
            <a:ext cx="20391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1F3864"/>
                </a:solidFill>
                <a:latin typeface="Calibri"/>
              </a:rPr>
              <a:t>RAG Knowledge Base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178040" y="5961888"/>
            <a:ext cx="2350008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903" y="5993892"/>
            <a:ext cx="155448" cy="155448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7434071" y="5993892"/>
            <a:ext cx="20391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1F3864"/>
                </a:solidFill>
                <a:latin typeface="Calibri"/>
              </a:rPr>
              <a:t>Human-in-the-Loop Gates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674352" y="5961888"/>
            <a:ext cx="2350008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ck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29216" y="5993892"/>
            <a:ext cx="155448" cy="155448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9930384" y="5993892"/>
            <a:ext cx="20391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1F3864"/>
                </a:solidFill>
                <a:latin typeface="Calibri"/>
              </a:rPr>
              <a:t>AI Governance &amp; Guardrails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11480" y="6364224"/>
            <a:ext cx="11365992" cy="36576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364224"/>
            <a:ext cx="1136599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AI drafts, accelerates and scales — testers review, decide, and own quality.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11480" y="6583680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B0B0B0"/>
                </a:solidFill>
                <a:latin typeface="Calibri"/>
              </a:rPr>
              <a:t>QE Townhall  •  AI-Enabled Quality Engineering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338560" y="6583680"/>
            <a:ext cx="411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B0B0B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AI-Enabled Quality Engineering — Pictorial</dc:title>
  <dc:subject/>
  <dc:creator>QE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