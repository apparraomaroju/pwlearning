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8" d="100"/>
          <a:sy n="108" d="100"/>
        </p:scale>
        <p:origin x="52" y="-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B2EE0-AD9C-86A8-B385-85353AF4EF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solidFill>
                  <a:srgbClr val="000000"/>
                </a:solidFill>
                <a:latin typeface="Arial"/>
              </a:rPr>
              <a:t>AI-Enabled Quality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3619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How we work and plan with AI on test management — from today’s shift to an intelligent, governed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4389120" cy="36576"/>
          </a:xfrm>
          <a:prstGeom prst="rect">
            <a:avLst/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0" y="804672"/>
            <a:ext cx="2743200" cy="36576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0" y="804672"/>
            <a:ext cx="5056632" cy="36576"/>
          </a:xfrm>
          <a:prstGeom prst="rect">
            <a:avLst/>
          </a:prstGeom>
          <a:solidFill>
            <a:srgbClr val="FD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883664"/>
            <a:ext cx="5669280" cy="219456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0" y="1883664"/>
            <a:ext cx="5669280" cy="219456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4169663"/>
            <a:ext cx="5669280" cy="219456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0" y="4169663"/>
            <a:ext cx="5669280" cy="219456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4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F022B"/>
                </a:solidFill>
                <a:latin typeface="Arial"/>
              </a:rPr>
              <a:t>THE SHIFT — CONTEXT &amp; FUNCTIONAL 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76272"/>
            <a:ext cx="731520" cy="22860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231136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304288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55555"/>
                </a:solidFill>
                <a:latin typeface="Arial"/>
              </a:rPr>
              <a:t>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87168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1">
                <a:solidFill>
                  <a:srgbClr val="B0B0B0"/>
                </a:solidFill>
                <a:latin typeface="Arial"/>
              </a:rPr>
              <a:t>✕  </a:t>
            </a:r>
            <a:r>
              <a:rPr sz="650">
                <a:solidFill>
                  <a:srgbClr val="161616"/>
                </a:solidFill>
                <a:latin typeface="Arial"/>
              </a:rPr>
              <a:t>Manual scripted execution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1">
                <a:solidFill>
                  <a:srgbClr val="B0B0B0"/>
                </a:solidFill>
                <a:latin typeface="Arial"/>
              </a:rPr>
              <a:t>✕  </a:t>
            </a:r>
            <a:r>
              <a:rPr sz="650">
                <a:solidFill>
                  <a:srgbClr val="161616"/>
                </a:solidFill>
                <a:latin typeface="Arial"/>
              </a:rPr>
              <a:t>Reactive · siloed artifacts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1">
                <a:solidFill>
                  <a:srgbClr val="B0B0B0"/>
                </a:solidFill>
                <a:latin typeface="Arial"/>
              </a:rPr>
              <a:t>✕  </a:t>
            </a:r>
            <a:r>
              <a:rPr sz="650">
                <a:solidFill>
                  <a:srgbClr val="161616"/>
                </a:solidFill>
                <a:latin typeface="Arial"/>
              </a:rPr>
              <a:t>Slow feedback loops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35224" y="2560320"/>
            <a:ext cx="182880" cy="274320"/>
          </a:xfrm>
          <a:prstGeom prst="rightArrow">
            <a:avLst/>
          </a:prstGeom>
          <a:solidFill>
            <a:srgbClr val="FD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72968" y="2231136"/>
            <a:ext cx="2770632" cy="914400"/>
          </a:xfrm>
          <a:prstGeom prst="roundRect">
            <a:avLst>
              <a:gd name="adj" fmla="val 10000"/>
            </a:avLst>
          </a:prstGeom>
          <a:solidFill>
            <a:srgbClr val="F3EEFA"/>
          </a:solidFill>
          <a:ln w="11430">
            <a:solidFill>
              <a:srgbClr val="4D1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2304288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4D1D82"/>
                </a:solidFill>
                <a:latin typeface="Arial"/>
              </a:rPr>
              <a:t>AI-ENABLED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487168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1">
                <a:solidFill>
                  <a:srgbClr val="548235"/>
                </a:solidFill>
                <a:latin typeface="Arial"/>
              </a:rPr>
              <a:t>✓  </a:t>
            </a:r>
            <a:r>
              <a:rPr sz="650">
                <a:solidFill>
                  <a:srgbClr val="161616"/>
                </a:solidFill>
                <a:latin typeface="Arial"/>
              </a:rPr>
              <a:t>Context &amp; prompt-driven design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1">
                <a:solidFill>
                  <a:srgbClr val="548235"/>
                </a:solidFill>
                <a:latin typeface="Arial"/>
              </a:rPr>
              <a:t>✓  </a:t>
            </a:r>
            <a:r>
              <a:rPr sz="650">
                <a:solidFill>
                  <a:srgbClr val="161616"/>
                </a:solidFill>
                <a:latin typeface="Arial"/>
              </a:rPr>
              <a:t>Proactive · connected knowledge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1">
                <a:solidFill>
                  <a:srgbClr val="548235"/>
                </a:solidFill>
                <a:latin typeface="Arial"/>
              </a:rPr>
              <a:t>✓  </a:t>
            </a:r>
            <a:r>
              <a:rPr sz="650">
                <a:solidFill>
                  <a:srgbClr val="161616"/>
                </a:solidFill>
                <a:latin typeface="Arial"/>
              </a:rPr>
              <a:t>Fast feedback — human in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552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4D1D82"/>
                </a:solidFill>
                <a:latin typeface="Arial"/>
              </a:rPr>
              <a:t>AI APPLIED TO TEST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38144"/>
            <a:ext cx="131673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49300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4400" y="35204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2A1449"/>
                </a:solidFill>
                <a:latin typeface="Arial"/>
              </a:rPr>
              <a:t>Test 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1952" y="3438144"/>
            <a:ext cx="131673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penc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3493008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13432" y="35204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2A1449"/>
                </a:solidFill>
                <a:latin typeface="Arial"/>
              </a:rPr>
              <a:t>Test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00984" y="3438144"/>
            <a:ext cx="131673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49300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712464" y="35204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2A1449"/>
                </a:solidFill>
                <a:latin typeface="Arial"/>
              </a:rPr>
              <a:t>Bug Creation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0016" y="3438144"/>
            <a:ext cx="131673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493008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11496" y="35204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2A1449"/>
                </a:solidFill>
                <a:latin typeface="Arial"/>
              </a:rPr>
              <a:t>Bug Triage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950208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CF022B"/>
                </a:solidFill>
                <a:latin typeface="Arial"/>
              </a:rPr>
              <a:t>Prompt: “Draft a test plan for the payment module – scope, risks, criteria”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975104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F022B"/>
                </a:solidFill>
                <a:latin typeface="Arial"/>
              </a:rPr>
              <a:t>MARKET TRENDS &amp; BUSINESS IMPACT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176272"/>
            <a:ext cx="731520" cy="22860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63640" y="2212848"/>
            <a:ext cx="292608" cy="292608"/>
          </a:xfrm>
          <a:prstGeom prst="roundRect">
            <a:avLst>
              <a:gd name="adj" fmla="val 22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235" y="2268443"/>
            <a:ext cx="181416" cy="18141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75120" y="219456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 i="0">
                <a:solidFill>
                  <a:srgbClr val="2A1449"/>
                </a:solidFill>
                <a:latin typeface="Arial"/>
              </a:rPr>
              <a:t>AI testing market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555555"/>
                </a:solidFill>
                <a:latin typeface="Arial"/>
              </a:rPr>
              <a:t>Analyst range $30–60B by 2032 · double-digit CAGR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688336"/>
            <a:ext cx="292608" cy="292608"/>
          </a:xfrm>
          <a:prstGeom prst="roundRect">
            <a:avLst>
              <a:gd name="adj" fmla="val 22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235" y="2743931"/>
            <a:ext cx="181416" cy="1814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43" name="TextBox 42"/>
          <p:cNvSpPr txBox="1"/>
          <p:nvPr/>
        </p:nvSpPr>
        <p:spPr>
          <a:xfrm>
            <a:off x="6675120" y="2670048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 i="0">
                <a:solidFill>
                  <a:srgbClr val="2A1449"/>
                </a:solidFill>
                <a:latin typeface="Arial"/>
              </a:rPr>
              <a:t>AI-assisted test management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555555"/>
                </a:solidFill>
                <a:latin typeface="Arial"/>
              </a:rPr>
              <a:t>Moving from experimentation to mainstream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163824"/>
            <a:ext cx="292608" cy="292608"/>
          </a:xfrm>
          <a:prstGeom prst="roundRect">
            <a:avLst>
              <a:gd name="adj" fmla="val 22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235" y="3219419"/>
            <a:ext cx="181416" cy="1814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46" name="TextBox 45"/>
          <p:cNvSpPr txBox="1"/>
          <p:nvPr/>
        </p:nvSpPr>
        <p:spPr>
          <a:xfrm>
            <a:off x="6675120" y="3145536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 i="0" dirty="0">
                <a:solidFill>
                  <a:srgbClr val="2A1449"/>
                </a:solidFill>
                <a:latin typeface="Arial"/>
              </a:rPr>
              <a:t>Generative AI in QA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 dirty="0">
                <a:solidFill>
                  <a:srgbClr val="555555"/>
                </a:solidFill>
                <a:latin typeface="Arial"/>
              </a:rPr>
              <a:t>Copilots &amp; agents: drafting → reasoning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219456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4D1D82"/>
                </a:solidFill>
                <a:latin typeface="Arial"/>
              </a:rPr>
              <a:t>PILOT IMPACT — ILLUSTRATIVE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2377440"/>
            <a:ext cx="1965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■ Manual      ■ AI-Assisted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0928" y="2615184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Test cases / day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10928" y="2715768"/>
            <a:ext cx="391885" cy="73152"/>
          </a:xfrm>
          <a:prstGeom prst="roundRect">
            <a:avLst>
              <a:gd name="adj" fmla="val 50000"/>
            </a:avLst>
          </a:prstGeom>
          <a:solidFill>
            <a:srgbClr val="C9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0148533" y="2715768"/>
            <a:ext cx="914400" cy="73152"/>
          </a:xfrm>
          <a:prstGeom prst="roundRect">
            <a:avLst>
              <a:gd name="adj" fmla="val 50000"/>
            </a:avLst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55680" y="2697479"/>
            <a:ext cx="77724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 i="0" dirty="0">
                <a:solidFill>
                  <a:srgbClr val="4D1D82"/>
                </a:solidFill>
                <a:latin typeface="Arial"/>
              </a:rPr>
              <a:t>2×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2944368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Bug report time (min)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10928" y="3044951"/>
            <a:ext cx="816428" cy="73152"/>
          </a:xfrm>
          <a:prstGeom prst="roundRect">
            <a:avLst>
              <a:gd name="adj" fmla="val 50000"/>
            </a:avLst>
          </a:prstGeom>
          <a:solidFill>
            <a:srgbClr val="C9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573076" y="3044951"/>
            <a:ext cx="163285" cy="73152"/>
          </a:xfrm>
          <a:prstGeom prst="roundRect">
            <a:avLst>
              <a:gd name="adj" fmla="val 50000"/>
            </a:avLst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155680" y="3026663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 i="0">
                <a:solidFill>
                  <a:srgbClr val="4D1D82"/>
                </a:solidFill>
                <a:latin typeface="Arial"/>
              </a:rPr>
              <a:t>5× faster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10928" y="3273551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Defects triaged / day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10928" y="3374135"/>
            <a:ext cx="261257" cy="73152"/>
          </a:xfrm>
          <a:prstGeom prst="roundRect">
            <a:avLst>
              <a:gd name="adj" fmla="val 50000"/>
            </a:avLst>
          </a:prstGeom>
          <a:solidFill>
            <a:srgbClr val="C9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017905" y="3374135"/>
            <a:ext cx="653142" cy="73152"/>
          </a:xfrm>
          <a:prstGeom prst="roundRect">
            <a:avLst>
              <a:gd name="adj" fmla="val 50000"/>
            </a:avLst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155680" y="3355847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 i="0">
                <a:solidFill>
                  <a:srgbClr val="4D1D82"/>
                </a:solidFill>
                <a:latin typeface="Arial"/>
              </a:rPr>
              <a:t>2.5×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3767328"/>
            <a:ext cx="13258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831336"/>
            <a:ext cx="274320" cy="27432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65976" y="3785615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 dirty="0">
                <a:solidFill>
                  <a:srgbClr val="2A1449"/>
                </a:solidFill>
                <a:latin typeface="Arial"/>
              </a:rPr>
              <a:t>Faster time-to-market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 dirty="0">
                <a:solidFill>
                  <a:srgbClr val="555555"/>
                </a:solidFill>
                <a:latin typeface="Arial"/>
              </a:rPr>
              <a:t>2× test cases per day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44383" y="3767328"/>
            <a:ext cx="13258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392" y="3831336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046719" y="3785615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2A1449"/>
                </a:solidFill>
                <a:latin typeface="Arial"/>
              </a:rPr>
              <a:t>Lower cost of quality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Early defect detection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25128" y="3767328"/>
            <a:ext cx="13258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lay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3831336"/>
            <a:ext cx="274320" cy="27432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427463" y="3785615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2A1449"/>
                </a:solidFill>
                <a:latin typeface="Arial"/>
              </a:rPr>
              <a:t>Scalable quality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Reusable AI test assets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05872" y="3767328"/>
            <a:ext cx="13258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3831336"/>
            <a:ext cx="274320" cy="2743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808207" y="3785615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2A1449"/>
                </a:solidFill>
                <a:latin typeface="Arial"/>
              </a:rPr>
              <a:t>Risk-informed decisions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0">
                <a:solidFill>
                  <a:srgbClr val="555555"/>
                </a:solidFill>
                <a:latin typeface="Arial"/>
              </a:rPr>
              <a:t>AI triage steers releases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4261104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F022B"/>
                </a:solidFill>
                <a:latin typeface="Arial"/>
              </a:rPr>
              <a:t>TECHNOLOGY &amp; DOMAIN PILLARS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4462272"/>
            <a:ext cx="731520" cy="22860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02920" y="4498848"/>
            <a:ext cx="268833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02920" y="4553712"/>
            <a:ext cx="54864" cy="676656"/>
          </a:xfrm>
          <a:prstGeom prst="rect">
            <a:avLst/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85800" y="4562856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F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bul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71" y="4608027"/>
            <a:ext cx="147401" cy="147401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96696" y="458114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A1449"/>
                </a:solidFill>
                <a:latin typeface="Arial"/>
              </a:rPr>
              <a:t>Context &amp; Prompt Engineering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696" y="48646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Purpose-built prompts per activity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Tester domain context drives quality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Reusable prompt &amp; template library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310128" y="4498848"/>
            <a:ext cx="268833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310128" y="4553712"/>
            <a:ext cx="54864" cy="676656"/>
          </a:xfrm>
          <a:prstGeom prst="rect">
            <a:avLst/>
          </a:prstGeom>
          <a:solidFill>
            <a:srgbClr val="FD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493008" y="4562856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F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179" y="4608027"/>
            <a:ext cx="147401" cy="147401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803904" y="458114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A1449"/>
                </a:solidFill>
                <a:latin typeface="Arial"/>
              </a:rPr>
              <a:t>RAG &amp; Knowledge Grounding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03904" y="48646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FD8C00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Retrieval: reqs, defects, history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FD8C00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Regression case ID via RAG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FD8C00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Model-grounded, evidence-linked suites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2920" y="5358384"/>
            <a:ext cx="268833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02920" y="5413248"/>
            <a:ext cx="54864" cy="676656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85800" y="5422392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F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971" y="5467563"/>
            <a:ext cx="147401" cy="14740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96696" y="544068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A1449"/>
                </a:solidFill>
                <a:latin typeface="Arial"/>
              </a:rPr>
              <a:t>Testing AI Apps &amp; Agents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6696" y="5724144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CF022B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QE for AI products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CF022B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Prompt, model &amp; agent strategies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CF022B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Evaluation, guardrails, bias checks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10128" y="5358384"/>
            <a:ext cx="268833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310128" y="5413248"/>
            <a:ext cx="54864" cy="676656"/>
          </a:xfrm>
          <a:prstGeom prst="rect">
            <a:avLst/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493008" y="5422392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F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shie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38179" y="5467563"/>
            <a:ext cx="147401" cy="147401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03904" y="544068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A1449"/>
                </a:solidFill>
                <a:latin typeface="Arial"/>
              </a:rPr>
              <a:t>AI DevOps &amp; Governance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03904" y="5724144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Self-healing pipelines, continuous QE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Policy, risk, privacy, compliance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Explainable, auditable decisions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6236208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1">
                <a:solidFill>
                  <a:srgbClr val="555555"/>
                </a:solidFill>
                <a:latin typeface="Arial"/>
              </a:rPr>
              <a:t>FOUNDATION:  Human-in-the-loop gates · AI guardrails · Prompt library · Upskilling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4261104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F022B"/>
                </a:solidFill>
                <a:latin typeface="Arial"/>
              </a:rPr>
              <a:t>STRATEGIC PATH &amp; ROADMAP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63640" y="4462272"/>
            <a:ext cx="731520" cy="22860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6263640" y="4498848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27648" y="4572000"/>
            <a:ext cx="1627632" cy="384048"/>
          </a:xfrm>
          <a:prstGeom prst="roundRect">
            <a:avLst>
              <a:gd name="adj" fmla="val 16000"/>
            </a:avLst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409944" y="4626864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PHASE 1 · NOW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Foundation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9944" y="5047488"/>
            <a:ext cx="1536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Prompt &amp; context engineering with Copilot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Plans · design · bugs · triage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4D1D82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Human-in-loop: AI drafts, testers decide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91655" y="5961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4D1D82"/>
                </a:solidFill>
                <a:latin typeface="Arial"/>
              </a:rPr>
              <a:t>▸ Faster, consistent test assets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8028431" y="5285232"/>
            <a:ext cx="100584" cy="20116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8138160" y="4498848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202168" y="4572000"/>
            <a:ext cx="1627632" cy="384048"/>
          </a:xfrm>
          <a:prstGeom prst="roundRect">
            <a:avLst>
              <a:gd name="adj" fmla="val 16000"/>
            </a:avLst>
          </a:prstGeom>
          <a:solidFill>
            <a:srgbClr val="FD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284464" y="4626864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PHASE 2 · 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Intelligent &amp; Adaptive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84464" y="5047488"/>
            <a:ext cx="1536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FD8C00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RAG regression test-case identification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FD8C00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Grounded in reqs, defects &amp; history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FD8C00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Testing AI applications &amp; agents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66176" y="5961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FD8C00"/>
                </a:solidFill>
                <a:latin typeface="Arial"/>
              </a:rPr>
              <a:t>▸ Requirement-linked, model-grounded suites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9902952" y="5285232"/>
            <a:ext cx="100584" cy="20116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0012680" y="4498848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0076688" y="4572000"/>
            <a:ext cx="1627632" cy="384048"/>
          </a:xfrm>
          <a:prstGeom prst="roundRect">
            <a:avLst>
              <a:gd name="adj" fmla="val 16000"/>
            </a:avLst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158984" y="4626864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PHASE 3 · BEYOND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Automated &amp; Governed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58984" y="5047488"/>
            <a:ext cx="1536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CF022B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AI DevOps · self-healing pipelines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CF022B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AI Governance · policy, risk &amp; privacy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620" b="1">
                <a:solidFill>
                  <a:srgbClr val="CF022B"/>
                </a:solidFill>
                <a:latin typeface="Arial"/>
              </a:rPr>
              <a:t>▪  </a:t>
            </a:r>
            <a:r>
              <a:rPr sz="620">
                <a:solidFill>
                  <a:srgbClr val="161616"/>
                </a:solidFill>
                <a:latin typeface="Arial"/>
              </a:rPr>
              <a:t>Explainable, auditable quality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0696" y="5961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CF022B"/>
                </a:solidFill>
                <a:latin typeface="Arial"/>
              </a:rPr>
              <a:t>▸ Trust, transparency &amp; readiness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63640" y="6236208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 i="1">
                <a:solidFill>
                  <a:srgbClr val="555555"/>
                </a:solidFill>
                <a:latin typeface="Arial"/>
              </a:rPr>
              <a:t>ENABLERS:  Prompt library · RAG knowledge base · Review gates · Governance &amp; guardrails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6382512"/>
            <a:ext cx="11430000" cy="274320"/>
          </a:xfrm>
          <a:prstGeom prst="roundRect">
            <a:avLst>
              <a:gd name="adj" fmla="val 50000"/>
            </a:avLst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65760" y="6382512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AI drafts, accelerates and scales — testers review, decide, and own quality.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" y="6492240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" y="6492240"/>
            <a:ext cx="6858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B6B6B"/>
                </a:solidFill>
                <a:latin typeface="Arial"/>
              </a:rPr>
              <a:t>QE Townhall  |  AI-Enabled Quality Engineering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52560" y="649224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 i="0" dirty="0">
                <a:solidFill>
                  <a:srgbClr val="CF022B"/>
                </a:solidFill>
                <a:latin typeface="Arial"/>
              </a:rPr>
              <a:t>C2 - Restricted use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6748272"/>
            <a:ext cx="4937760" cy="27432"/>
          </a:xfrm>
          <a:prstGeom prst="rect">
            <a:avLst/>
          </a:prstGeom>
          <a:solidFill>
            <a:srgbClr val="4D1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4937760" y="6748272"/>
            <a:ext cx="2743200" cy="27432"/>
          </a:xfrm>
          <a:prstGeom prst="rect">
            <a:avLst/>
          </a:prstGeom>
          <a:solidFill>
            <a:srgbClr val="CF0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680960" y="6748272"/>
            <a:ext cx="4507992" cy="27432"/>
          </a:xfrm>
          <a:prstGeom prst="rect">
            <a:avLst/>
          </a:prstGeom>
          <a:solidFill>
            <a:srgbClr val="FD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Image 0" descr="preencoded.png">
            <a:extLst>
              <a:ext uri="{FF2B5EF4-FFF2-40B4-BE49-F238E27FC236}">
                <a16:creationId xmlns:a16="http://schemas.microsoft.com/office/drawing/2014/main" id="{0242F0FB-8A0A-47B9-F368-895978A0B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38360" y="201168"/>
            <a:ext cx="1828800" cy="246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437</Words>
  <Application>Microsoft Office PowerPoint</Application>
  <PresentationFormat>Widescreen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Tahoma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Quality Engineering — One-Pager (Sopra Template)</dc:title>
  <dc:subject/>
  <dc:creator>QE Team</dc:creator>
  <cp:keywords/>
  <dc:description>generated using python-pptx</dc:description>
  <cp:lastModifiedBy>MAROJU Apparao</cp:lastModifiedBy>
  <cp:revision>2</cp:revision>
  <dcterms:created xsi:type="dcterms:W3CDTF">2013-01-27T09:14:16Z</dcterms:created>
  <dcterms:modified xsi:type="dcterms:W3CDTF">2026-08-07T14:40:11Z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C2 - Restricted use </vt:lpwstr>
  </property>
</Properties>
</file>